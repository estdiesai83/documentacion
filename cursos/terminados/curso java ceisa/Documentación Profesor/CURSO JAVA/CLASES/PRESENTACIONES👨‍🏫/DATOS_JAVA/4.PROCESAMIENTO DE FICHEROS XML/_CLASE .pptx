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Robo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20" Type="http://schemas.openxmlformats.org/officeDocument/2006/relationships/slide" Target="slides/slide15.xml"/><Relationship Id="rId41" Type="http://schemas.openxmlformats.org/officeDocument/2006/relationships/font" Target="fonts/Robot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bold.fntdata"/><Relationship Id="rId16" Type="http://schemas.openxmlformats.org/officeDocument/2006/relationships/slide" Target="slides/slide11.xml"/><Relationship Id="rId38" Type="http://schemas.openxmlformats.org/officeDocument/2006/relationships/font" Target="fonts/Robo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91a8a795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391a8a795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391a8a795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391a8a795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fe43d905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fe43d905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fc57171c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fc57171c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67c85f7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67c85f7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fc57171c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fc57171c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fc57171c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fc57171c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2cb0623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42cb0623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fe43d905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3fe43d905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7c371ef2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7c371ef2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7c371ef2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7c371ef2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7c371ef2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7c371ef2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7c371ef2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47c371ef2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7c371ef2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7c371ef2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7c371ef2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47c371ef2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82ac5d5b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82ac5d5b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482ac5d5b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482ac5d5b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82ac5d5b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482ac5d5b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82ac5d5b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82ac5d5b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82ac5d5b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482ac5d5b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482ac5d5b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482ac5d5b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482ac5d5b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482ac5d5b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482ac5d5b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482ac5d5b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482ac5d5b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482ac5d5b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482ac5d5b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482ac5d5b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48325146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48325146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483251469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483251469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483251469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483251469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482ac5d5b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482ac5d5b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482ac5d5b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482ac5d5b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3fc57171c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3fc57171c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6B8A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37.png"/><Relationship Id="rId6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30.png"/><Relationship Id="rId6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36.png"/><Relationship Id="rId6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3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3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1830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PROCESAMIENTO DE DATOS CON JAVA</a:t>
            </a:r>
            <a:endParaRPr sz="4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15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IFCT079PO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8850" y="12225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550" y="416700"/>
            <a:ext cx="913550" cy="9135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2116350" y="4107925"/>
            <a:ext cx="4513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PROCESAMIENTO DE FICHEROS XML.</a:t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2024875" y="1800475"/>
            <a:ext cx="55704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Representación de datos XML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Analizadores sintácticos o PARSER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975" y="1081550"/>
            <a:ext cx="7350700" cy="394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031300"/>
            <a:ext cx="8839200" cy="810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1887375" y="265850"/>
            <a:ext cx="628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100"/>
              </a:spcBef>
              <a:spcAft>
                <a:spcPts val="600"/>
              </a:spcAft>
              <a:buNone/>
            </a:pP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Características y ventajas de XML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8350" y="1586125"/>
            <a:ext cx="43243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47875" y="2311363"/>
            <a:ext cx="43053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33550" y="3160438"/>
            <a:ext cx="49339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8188" y="3895213"/>
            <a:ext cx="69246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725" y="1393825"/>
            <a:ext cx="8440992" cy="363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950" y="1122225"/>
            <a:ext cx="7126300" cy="371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1725" y="857925"/>
            <a:ext cx="6360551" cy="410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645025"/>
            <a:ext cx="8839200" cy="1113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050" y="1401050"/>
            <a:ext cx="8839200" cy="248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050" y="1878800"/>
            <a:ext cx="8839202" cy="1222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70300" y="293075"/>
            <a:ext cx="4695825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777175"/>
            <a:ext cx="8839199" cy="989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02175" y="398600"/>
            <a:ext cx="344805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360400"/>
            <a:ext cx="8839200" cy="1990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950" y="294438"/>
            <a:ext cx="69437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150" y="1340075"/>
            <a:ext cx="8351330" cy="363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400" y="2082125"/>
            <a:ext cx="8839200" cy="134361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 txBox="1"/>
          <p:nvPr/>
        </p:nvSpPr>
        <p:spPr>
          <a:xfrm>
            <a:off x="571050" y="243950"/>
            <a:ext cx="80019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75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b="1" lang="en" sz="3000">
                <a:solidFill>
                  <a:srgbClr val="232B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Cómo asociar un archivo CSS a un documento XML</a:t>
            </a:r>
            <a:endParaRPr b="1" sz="3000">
              <a:solidFill>
                <a:srgbClr val="232B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413" y="1584025"/>
            <a:ext cx="8162925" cy="16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8"/>
          <p:cNvSpPr txBox="1"/>
          <p:nvPr/>
        </p:nvSpPr>
        <p:spPr>
          <a:xfrm>
            <a:off x="3354450" y="274450"/>
            <a:ext cx="3000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Analizadores sintácticos o PARSER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825" y="1380750"/>
            <a:ext cx="813435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425" y="1787325"/>
            <a:ext cx="7677150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75" y="1360400"/>
            <a:ext cx="8277225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213" y="1340075"/>
            <a:ext cx="8029575" cy="34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850" y="1380725"/>
            <a:ext cx="8134350" cy="27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300" y="1208000"/>
            <a:ext cx="740906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9350" y="152400"/>
            <a:ext cx="636131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9350" y="335375"/>
            <a:ext cx="6538499" cy="3974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3475" y="152400"/>
            <a:ext cx="587168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9350" y="152400"/>
            <a:ext cx="6538501" cy="449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350" y="2026400"/>
            <a:ext cx="78581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05475" y="721325"/>
            <a:ext cx="4286250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6625" y="332538"/>
            <a:ext cx="219075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7425" y="1899150"/>
            <a:ext cx="6591300" cy="5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1"/>
          <p:cNvSpPr txBox="1"/>
          <p:nvPr/>
        </p:nvSpPr>
        <p:spPr>
          <a:xfrm>
            <a:off x="754250" y="1860200"/>
            <a:ext cx="7918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Un nodo </a:t>
            </a:r>
            <a:r>
              <a:rPr b="1" lang="en" sz="1800">
                <a:solidFill>
                  <a:schemeClr val="dk1"/>
                </a:solidFill>
              </a:rPr>
              <a:t>es un objeto como cualquier otro, y sus atributos serán los encargados de hacer el trabajo de almacenar y apuntar a otro nodo</a:t>
            </a:r>
            <a:r>
              <a:rPr lang="en" sz="1800">
                <a:solidFill>
                  <a:schemeClr val="dk1"/>
                </a:solidFill>
              </a:rPr>
              <a:t>. Cada nodo tiene dos atributos: un atributo “contenido”, usado para almacenar un objeto; y otro atributo “siguiente”, usado para hacer referencia al siguiente nodo de la lista.</a:t>
            </a:r>
            <a:endParaRPr sz="2100"/>
          </a:p>
        </p:txBody>
      </p:sp>
      <p:pic>
        <p:nvPicPr>
          <p:cNvPr id="266" name="Google Shape;266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0275" y="238200"/>
            <a:ext cx="2515357" cy="140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2"/>
          <p:cNvSpPr txBox="1"/>
          <p:nvPr/>
        </p:nvSpPr>
        <p:spPr>
          <a:xfrm>
            <a:off x="1026950" y="1385500"/>
            <a:ext cx="6853200" cy="26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32352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highlight>
                  <a:schemeClr val="lt1"/>
                </a:highlight>
              </a:rPr>
              <a:t>Análisis de varios elementos en XML</a:t>
            </a:r>
            <a:endParaRPr b="1" sz="2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Para analizar un documento XML con múltiples elementos, necesitamos usar bucles. El método </a:t>
            </a:r>
            <a:r>
              <a:rPr b="1" lang="en" sz="1600">
                <a:solidFill>
                  <a:schemeClr val="dk1"/>
                </a:solidFill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getChildNodes()</a:t>
            </a:r>
            <a:r>
              <a:rPr b="1" lang="en" sz="1600">
                <a:solidFill>
                  <a:schemeClr val="dk1"/>
                </a:solidFill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recupera todos los nodos secundarios de un elemento y los devuelve como NodeList. Necesitamos recorrer todos los elementos de la NodeList obtenida y recuperar la información deseada sobre cada elemento como lo hicimos en las secciones anteriores.</a:t>
            </a:r>
            <a:endParaRPr b="1" sz="1600">
              <a:solidFill>
                <a:schemeClr val="dk1"/>
              </a:solidFill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150" y="183815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3"/>
          <p:cNvSpPr txBox="1"/>
          <p:nvPr/>
        </p:nvSpPr>
        <p:spPr>
          <a:xfrm>
            <a:off x="4190025" y="2077725"/>
            <a:ext cx="3781500" cy="19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ACTIVIDAD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150" y="183815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4"/>
          <p:cNvSpPr txBox="1"/>
          <p:nvPr/>
        </p:nvSpPr>
        <p:spPr>
          <a:xfrm>
            <a:off x="4190025" y="2077725"/>
            <a:ext cx="3781500" cy="19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ACTIVIDAD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