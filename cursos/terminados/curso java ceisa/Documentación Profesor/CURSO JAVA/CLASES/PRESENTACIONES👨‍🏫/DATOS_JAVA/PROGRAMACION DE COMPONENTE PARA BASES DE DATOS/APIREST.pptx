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embeddedFontLst>
    <p:embeddedFont>
      <p:font typeface="Average"/>
      <p:regular r:id="rId38"/>
    </p:embeddedFont>
    <p:embeddedFont>
      <p:font typeface="Oswald"/>
      <p:regular r:id="rId39"/>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1" roundtripDataSignature="AMtx7mg13HUX/XaA2QyyG6f0Fmli3otl6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swald-bold.fntdata"/><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Oswald-regular.fntdata"/><Relationship Id="rId16" Type="http://schemas.openxmlformats.org/officeDocument/2006/relationships/slide" Target="slides/slide11.xml"/><Relationship Id="rId38" Type="http://schemas.openxmlformats.org/officeDocument/2006/relationships/font" Target="fonts/Average-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 name="Google Shape;5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34"/>
          <p:cNvGrpSpPr/>
          <p:nvPr/>
        </p:nvGrpSpPr>
        <p:grpSpPr>
          <a:xfrm>
            <a:off x="4350279" y="2855377"/>
            <a:ext cx="443589" cy="105632"/>
            <a:chOff x="4137525" y="2915950"/>
            <a:chExt cx="869100" cy="207000"/>
          </a:xfrm>
        </p:grpSpPr>
        <p:sp>
          <p:nvSpPr>
            <p:cNvPr id="11" name="Google Shape;11;p34"/>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34"/>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34"/>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34"/>
          <p:cNvSpPr txBox="1"/>
          <p:nvPr>
            <p:ph type="ctrTitle"/>
          </p:nvPr>
        </p:nvSpPr>
        <p:spPr>
          <a:xfrm>
            <a:off x="671258" y="990800"/>
            <a:ext cx="7801500" cy="17301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5" name="Google Shape;15;p34"/>
          <p:cNvSpPr txBox="1"/>
          <p:nvPr>
            <p:ph idx="1" type="subTitle"/>
          </p:nvPr>
        </p:nvSpPr>
        <p:spPr>
          <a:xfrm>
            <a:off x="671250" y="3174876"/>
            <a:ext cx="78015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34"/>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9" name="Google Shape;19;p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 name="Google Shape;20;p35"/>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6"/>
          <p:cNvSpPr txBox="1"/>
          <p:nvPr>
            <p:ph type="title"/>
          </p:nvPr>
        </p:nvSpPr>
        <p:spPr>
          <a:xfrm>
            <a:off x="671250" y="2141250"/>
            <a:ext cx="7852200" cy="861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3" name="Google Shape;23;p36"/>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6" name="Google Shape;26;p3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7" name="Google Shape;27;p3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8" name="Google Shape;28;p37"/>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1" name="Google Shape;31;p38"/>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3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4" name="Google Shape;34;p3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 name="Google Shape;35;p39"/>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40"/>
          <p:cNvSpPr txBox="1"/>
          <p:nvPr>
            <p:ph type="title"/>
          </p:nvPr>
        </p:nvSpPr>
        <p:spPr>
          <a:xfrm>
            <a:off x="490250" y="526350"/>
            <a:ext cx="62271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38" name="Google Shape;38;p40"/>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41"/>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1" name="Google Shape;41;p4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41"/>
          <p:cNvSpPr txBox="1"/>
          <p:nvPr>
            <p:ph type="title"/>
          </p:nvPr>
        </p:nvSpPr>
        <p:spPr>
          <a:xfrm>
            <a:off x="265500" y="1081400"/>
            <a:ext cx="4045200" cy="1710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3" name="Google Shape;43;p41"/>
          <p:cNvSpPr txBox="1"/>
          <p:nvPr>
            <p:ph idx="1" type="subTitle"/>
          </p:nvPr>
        </p:nvSpPr>
        <p:spPr>
          <a:xfrm>
            <a:off x="265500" y="28452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4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45" name="Google Shape;45;p4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4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42"/>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43"/>
          <p:cNvSpPr txBox="1"/>
          <p:nvPr>
            <p:ph hasCustomPrompt="1" type="title"/>
          </p:nvPr>
        </p:nvSpPr>
        <p:spPr>
          <a:xfrm>
            <a:off x="311700" y="1255275"/>
            <a:ext cx="8520600" cy="1890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1" name="Google Shape;51;p43"/>
          <p:cNvSpPr txBox="1"/>
          <p:nvPr>
            <p:ph idx="1" type="body"/>
          </p:nvPr>
        </p:nvSpPr>
        <p:spPr>
          <a:xfrm>
            <a:off x="311700" y="32284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2" name="Google Shape;52;p43"/>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44"/>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1pPr>
            <a:lvl2pPr lvl="1"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2pPr>
            <a:lvl3pPr lvl="2"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3pPr>
            <a:lvl4pPr lvl="3"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4pPr>
            <a:lvl5pPr lvl="4"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5pPr>
            <a:lvl6pPr lvl="5"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6pPr>
            <a:lvl7pPr lvl="6"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7pPr>
            <a:lvl8pPr lvl="7"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8pPr>
            <a:lvl9pPr lvl="8"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9pPr>
          </a:lstStyle>
          <a:p/>
        </p:txBody>
      </p:sp>
      <p:sp>
        <p:nvSpPr>
          <p:cNvPr id="7" name="Google Shape;7;p3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accent3"/>
              </a:buClr>
              <a:buSzPts val="1800"/>
              <a:buFont typeface="Average"/>
              <a:buChar char="●"/>
              <a:defRPr b="0" i="0" sz="1800" u="none" cap="none" strike="noStrike">
                <a:solidFill>
                  <a:schemeClr val="accent3"/>
                </a:solidFill>
                <a:latin typeface="Average"/>
                <a:ea typeface="Average"/>
                <a:cs typeface="Average"/>
                <a:sym typeface="Average"/>
              </a:defRPr>
            </a:lvl1pPr>
            <a:lvl2pPr indent="-317500" lvl="1" marL="9144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2pPr>
            <a:lvl3pPr indent="-317500" lvl="2" marL="13716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3pPr>
            <a:lvl4pPr indent="-317500" lvl="3" marL="18288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4pPr>
            <a:lvl5pPr indent="-317500" lvl="4" marL="22860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5pPr>
            <a:lvl6pPr indent="-317500" lvl="5" marL="27432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6pPr>
            <a:lvl7pPr indent="-317500" lvl="6" marL="32004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7pPr>
            <a:lvl8pPr indent="-317500" lvl="7" marL="36576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8pPr>
            <a:lvl9pPr indent="-317500" lvl="8" marL="41148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9pPr>
          </a:lstStyle>
          <a:p/>
        </p:txBody>
      </p:sp>
      <p:sp>
        <p:nvSpPr>
          <p:cNvPr id="8" name="Google Shape;8;p33"/>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8.png"/><Relationship Id="rId4" Type="http://schemas.openxmlformats.org/officeDocument/2006/relationships/image" Target="../media/image6.png"/><Relationship Id="rId5"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6.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21.png"/><Relationship Id="rId6"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58" name="Shape 58"/>
        <p:cNvGrpSpPr/>
        <p:nvPr/>
      </p:nvGrpSpPr>
      <p:grpSpPr>
        <a:xfrm>
          <a:off x="0" y="0"/>
          <a:ext cx="0" cy="0"/>
          <a:chOff x="0" y="0"/>
          <a:chExt cx="0" cy="0"/>
        </a:xfrm>
      </p:grpSpPr>
      <p:sp>
        <p:nvSpPr>
          <p:cNvPr id="59" name="Google Shape;59;p1"/>
          <p:cNvSpPr txBox="1"/>
          <p:nvPr>
            <p:ph type="ctrTitle"/>
          </p:nvPr>
        </p:nvSpPr>
        <p:spPr>
          <a:xfrm>
            <a:off x="466950" y="1732150"/>
            <a:ext cx="8210100" cy="10449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800"/>
              <a:buNone/>
            </a:pPr>
            <a:r>
              <a:rPr lang="en" sz="6400"/>
              <a:t>Spring Boot para Eclipse</a:t>
            </a:r>
            <a:endParaRPr sz="6400"/>
          </a:p>
        </p:txBody>
      </p:sp>
      <p:sp>
        <p:nvSpPr>
          <p:cNvPr id="60" name="Google Shape;60;p1"/>
          <p:cNvSpPr txBox="1"/>
          <p:nvPr>
            <p:ph idx="1" type="subTitle"/>
          </p:nvPr>
        </p:nvSpPr>
        <p:spPr>
          <a:xfrm>
            <a:off x="311700" y="3809975"/>
            <a:ext cx="8520600" cy="7926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15000"/>
              </a:lnSpc>
              <a:spcBef>
                <a:spcPts val="2400"/>
              </a:spcBef>
              <a:spcAft>
                <a:spcPts val="0"/>
              </a:spcAft>
              <a:buSzPct val="130434"/>
              <a:buNone/>
            </a:pPr>
            <a:r>
              <a:t/>
            </a:r>
            <a:endParaRPr b="1" sz="2300">
              <a:solidFill>
                <a:srgbClr val="000000"/>
              </a:solidFill>
              <a:latin typeface="Arial"/>
              <a:ea typeface="Arial"/>
              <a:cs typeface="Arial"/>
              <a:sym typeface="Arial"/>
            </a:endParaRPr>
          </a:p>
          <a:p>
            <a:pPr indent="0" lvl="0" marL="0" rtl="0" algn="ctr">
              <a:lnSpc>
                <a:spcPct val="100000"/>
              </a:lnSpc>
              <a:spcBef>
                <a:spcPts val="600"/>
              </a:spcBef>
              <a:spcAft>
                <a:spcPts val="0"/>
              </a:spcAft>
              <a:buSzPct val="96774"/>
              <a:buNone/>
            </a:pPr>
            <a:r>
              <a:rPr lang="en" sz="3100">
                <a:solidFill>
                  <a:schemeClr val="dk1"/>
                </a:solidFill>
              </a:rPr>
              <a:t>Aplicaciones API REST</a:t>
            </a:r>
            <a:endParaRPr sz="3100">
              <a:solidFill>
                <a:schemeClr val="dk1"/>
              </a:solidFill>
            </a:endParaRPr>
          </a:p>
        </p:txBody>
      </p:sp>
      <p:pic>
        <p:nvPicPr>
          <p:cNvPr id="61" name="Google Shape;61;p1"/>
          <p:cNvPicPr preferRelativeResize="0"/>
          <p:nvPr/>
        </p:nvPicPr>
        <p:blipFill rotWithShape="1">
          <a:blip r:embed="rId3">
            <a:alphaModFix/>
          </a:blip>
          <a:srcRect b="0" l="0" r="0" t="0"/>
          <a:stretch/>
        </p:blipFill>
        <p:spPr>
          <a:xfrm>
            <a:off x="150500" y="337925"/>
            <a:ext cx="1849400" cy="792600"/>
          </a:xfrm>
          <a:prstGeom prst="rect">
            <a:avLst/>
          </a:prstGeom>
          <a:noFill/>
          <a:ln>
            <a:noFill/>
          </a:ln>
        </p:spPr>
      </p:pic>
      <p:pic>
        <p:nvPicPr>
          <p:cNvPr id="62" name="Google Shape;62;p1"/>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66" name="Shape 66"/>
        <p:cNvGrpSpPr/>
        <p:nvPr/>
      </p:nvGrpSpPr>
      <p:grpSpPr>
        <a:xfrm>
          <a:off x="0" y="0"/>
          <a:ext cx="0" cy="0"/>
          <a:chOff x="0" y="0"/>
          <a:chExt cx="0" cy="0"/>
        </a:xfrm>
      </p:grpSpPr>
      <p:sp>
        <p:nvSpPr>
          <p:cNvPr id="67" name="Google Shape;67;p2"/>
          <p:cNvSpPr txBox="1"/>
          <p:nvPr>
            <p:ph type="title"/>
          </p:nvPr>
        </p:nvSpPr>
        <p:spPr>
          <a:xfrm>
            <a:off x="719400" y="1762625"/>
            <a:ext cx="7705200" cy="2419500"/>
          </a:xfrm>
          <a:prstGeom prst="rect">
            <a:avLst/>
          </a:prstGeom>
          <a:noFill/>
          <a:ln>
            <a:noFill/>
          </a:ln>
        </p:spPr>
        <p:txBody>
          <a:bodyPr anchorCtr="0" anchor="t" bIns="91425" lIns="91425" spcFirstLastPara="1" rIns="91425" wrap="square" tIns="91425">
            <a:normAutofit fontScale="90000"/>
          </a:bodyPr>
          <a:lstStyle/>
          <a:p>
            <a:pPr indent="0" lvl="0" marL="0" rtl="0" algn="just">
              <a:lnSpc>
                <a:spcPct val="115000"/>
              </a:lnSpc>
              <a:spcBef>
                <a:spcPts val="1200"/>
              </a:spcBef>
              <a:spcAft>
                <a:spcPts val="0"/>
              </a:spcAft>
              <a:buSzPct val="111111"/>
              <a:buNone/>
            </a:pPr>
            <a:r>
              <a:rPr lang="en"/>
              <a:t>Las API REST permiten que diferentes aplicaciones se comuniquen entre sí a través de Internet. Un cliente (sitio web, aplicación móvil, aplicación de escritorio etc.) puede enviar una solicitud a una API REST para obtener o modificar datos, y la API responde con la información solicitada.</a:t>
            </a:r>
            <a:endParaRPr/>
          </a:p>
          <a:p>
            <a:pPr indent="0" lvl="0" marL="0" rtl="0" algn="just">
              <a:lnSpc>
                <a:spcPct val="100000"/>
              </a:lnSpc>
              <a:spcBef>
                <a:spcPts val="1200"/>
              </a:spcBef>
              <a:spcAft>
                <a:spcPts val="0"/>
              </a:spcAft>
              <a:buSzPct val="111111"/>
              <a:buNone/>
            </a:pPr>
            <a:r>
              <a:t/>
            </a:r>
            <a:endParaRPr/>
          </a:p>
        </p:txBody>
      </p:sp>
      <p:pic>
        <p:nvPicPr>
          <p:cNvPr id="68" name="Google Shape;68;p2"/>
          <p:cNvPicPr preferRelativeResize="0"/>
          <p:nvPr/>
        </p:nvPicPr>
        <p:blipFill rotWithShape="1">
          <a:blip r:embed="rId3">
            <a:alphaModFix/>
          </a:blip>
          <a:srcRect b="0" l="0" r="0" t="0"/>
          <a:stretch/>
        </p:blipFill>
        <p:spPr>
          <a:xfrm>
            <a:off x="150500" y="337925"/>
            <a:ext cx="1681225" cy="792600"/>
          </a:xfrm>
          <a:prstGeom prst="rect">
            <a:avLst/>
          </a:prstGeom>
          <a:noFill/>
          <a:ln>
            <a:noFill/>
          </a:ln>
        </p:spPr>
      </p:pic>
      <p:pic>
        <p:nvPicPr>
          <p:cNvPr id="69" name="Google Shape;69;p2"/>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73" name="Shape 73"/>
        <p:cNvGrpSpPr/>
        <p:nvPr/>
      </p:nvGrpSpPr>
      <p:grpSpPr>
        <a:xfrm>
          <a:off x="0" y="0"/>
          <a:ext cx="0" cy="0"/>
          <a:chOff x="0" y="0"/>
          <a:chExt cx="0" cy="0"/>
        </a:xfrm>
      </p:grpSpPr>
      <p:sp>
        <p:nvSpPr>
          <p:cNvPr id="74" name="Google Shape;74;p3"/>
          <p:cNvSpPr txBox="1"/>
          <p:nvPr>
            <p:ph type="title"/>
          </p:nvPr>
        </p:nvSpPr>
        <p:spPr>
          <a:xfrm>
            <a:off x="719400" y="1579650"/>
            <a:ext cx="7705200" cy="26025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SzPct val="111111"/>
              <a:buNone/>
            </a:pPr>
            <a:r>
              <a:rPr lang="en"/>
              <a:t>Spring Boot facilita enormemente la creación de API REST, ya vimos como crear páginas dinámicas en el servidor.</a:t>
            </a:r>
            <a:endParaRPr/>
          </a:p>
          <a:p>
            <a:pPr indent="0" lvl="0" marL="0" rtl="0" algn="l">
              <a:lnSpc>
                <a:spcPct val="115000"/>
              </a:lnSpc>
              <a:spcBef>
                <a:spcPts val="1200"/>
              </a:spcBef>
              <a:spcAft>
                <a:spcPts val="0"/>
              </a:spcAft>
              <a:buSzPct val="111111"/>
              <a:buNone/>
            </a:pPr>
            <a:r>
              <a:rPr lang="en"/>
              <a:t>Crear páginas renderizadas en el servidor con Spring Boot y desarrollar API REST son dos enfoques diferentes para construir aplicaciones</a:t>
            </a:r>
            <a:endParaRPr/>
          </a:p>
          <a:p>
            <a:pPr indent="0" lvl="0" marL="0" rtl="0" algn="just">
              <a:lnSpc>
                <a:spcPct val="115000"/>
              </a:lnSpc>
              <a:spcBef>
                <a:spcPts val="1200"/>
              </a:spcBef>
              <a:spcAft>
                <a:spcPts val="0"/>
              </a:spcAft>
              <a:buSzPct val="111111"/>
              <a:buNone/>
            </a:pPr>
            <a:r>
              <a:t/>
            </a:r>
            <a:endParaRPr/>
          </a:p>
          <a:p>
            <a:pPr indent="0" lvl="0" marL="0" rtl="0" algn="just">
              <a:lnSpc>
                <a:spcPct val="100000"/>
              </a:lnSpc>
              <a:spcBef>
                <a:spcPts val="1200"/>
              </a:spcBef>
              <a:spcAft>
                <a:spcPts val="0"/>
              </a:spcAft>
              <a:buSzPct val="111111"/>
              <a:buNone/>
            </a:pPr>
            <a:r>
              <a:t/>
            </a:r>
            <a:endParaRPr/>
          </a:p>
        </p:txBody>
      </p:sp>
      <p:pic>
        <p:nvPicPr>
          <p:cNvPr id="75" name="Google Shape;75;p3"/>
          <p:cNvPicPr preferRelativeResize="0"/>
          <p:nvPr/>
        </p:nvPicPr>
        <p:blipFill rotWithShape="1">
          <a:blip r:embed="rId3">
            <a:alphaModFix/>
          </a:blip>
          <a:srcRect b="0" l="0" r="0" t="0"/>
          <a:stretch/>
        </p:blipFill>
        <p:spPr>
          <a:xfrm>
            <a:off x="150500" y="337925"/>
            <a:ext cx="1681225" cy="792600"/>
          </a:xfrm>
          <a:prstGeom prst="rect">
            <a:avLst/>
          </a:prstGeom>
          <a:noFill/>
          <a:ln>
            <a:noFill/>
          </a:ln>
        </p:spPr>
      </p:pic>
      <p:pic>
        <p:nvPicPr>
          <p:cNvPr id="76" name="Google Shape;76;p3"/>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80" name="Shape 80"/>
        <p:cNvGrpSpPr/>
        <p:nvPr/>
      </p:nvGrpSpPr>
      <p:grpSpPr>
        <a:xfrm>
          <a:off x="0" y="0"/>
          <a:ext cx="0" cy="0"/>
          <a:chOff x="0" y="0"/>
          <a:chExt cx="0" cy="0"/>
        </a:xfrm>
      </p:grpSpPr>
      <p:sp>
        <p:nvSpPr>
          <p:cNvPr id="81" name="Google Shape;81;p4"/>
          <p:cNvSpPr txBox="1"/>
          <p:nvPr>
            <p:ph type="title"/>
          </p:nvPr>
        </p:nvSpPr>
        <p:spPr>
          <a:xfrm>
            <a:off x="719400" y="1260150"/>
            <a:ext cx="7705200" cy="3661800"/>
          </a:xfrm>
          <a:prstGeom prst="rect">
            <a:avLst/>
          </a:prstGeom>
          <a:noFill/>
          <a:ln>
            <a:noFill/>
          </a:ln>
        </p:spPr>
        <p:txBody>
          <a:bodyPr anchorCtr="0" anchor="t" bIns="91425" lIns="91425" spcFirstLastPara="1" rIns="91425" wrap="square" tIns="91425">
            <a:normAutofit fontScale="90000"/>
          </a:bodyPr>
          <a:lstStyle/>
          <a:p>
            <a:pPr indent="-304214" lvl="0" marL="457200" rtl="0" algn="just">
              <a:lnSpc>
                <a:spcPct val="115000"/>
              </a:lnSpc>
              <a:spcBef>
                <a:spcPts val="1200"/>
              </a:spcBef>
              <a:spcAft>
                <a:spcPts val="0"/>
              </a:spcAft>
              <a:buClr>
                <a:schemeClr val="dk1"/>
              </a:buClr>
              <a:buSzPct val="100000"/>
              <a:buFont typeface="Arial"/>
              <a:buChar char="●"/>
            </a:pPr>
            <a:r>
              <a:rPr b="1" lang="en" sz="1322">
                <a:latin typeface="Arial"/>
                <a:ea typeface="Arial"/>
                <a:cs typeface="Arial"/>
                <a:sym typeface="Arial"/>
              </a:rPr>
              <a:t>Transferencia de datos</a:t>
            </a:r>
            <a:r>
              <a:rPr lang="en" sz="1322">
                <a:latin typeface="Arial"/>
                <a:ea typeface="Arial"/>
                <a:cs typeface="Arial"/>
                <a:sym typeface="Arial"/>
              </a:rPr>
              <a:t>: En lugar de generar páginas HTML completas, una API REST proporciona un conjunto de puntos finales (endpoints) que permiten a los clientes acceder y manipular datos en el servidor. Estos datos generalmente se transfieren en formato JSON.</a:t>
            </a:r>
            <a:br>
              <a:rPr lang="en" sz="1322">
                <a:latin typeface="Arial"/>
                <a:ea typeface="Arial"/>
                <a:cs typeface="Arial"/>
                <a:sym typeface="Arial"/>
              </a:rPr>
            </a:br>
            <a:endParaRPr sz="1322">
              <a:latin typeface="Arial"/>
              <a:ea typeface="Arial"/>
              <a:cs typeface="Arial"/>
              <a:sym typeface="Arial"/>
            </a:endParaRPr>
          </a:p>
          <a:p>
            <a:pPr indent="-304214" lvl="0" marL="457200" rtl="0" algn="just">
              <a:lnSpc>
                <a:spcPct val="115000"/>
              </a:lnSpc>
              <a:spcBef>
                <a:spcPts val="0"/>
              </a:spcBef>
              <a:spcAft>
                <a:spcPts val="0"/>
              </a:spcAft>
              <a:buClr>
                <a:schemeClr val="dk1"/>
              </a:buClr>
              <a:buSzPct val="100000"/>
              <a:buFont typeface="Arial"/>
              <a:buChar char="●"/>
            </a:pPr>
            <a:r>
              <a:rPr b="1" lang="en" sz="1322">
                <a:latin typeface="Arial"/>
                <a:ea typeface="Arial"/>
                <a:cs typeface="Arial"/>
                <a:sym typeface="Arial"/>
              </a:rPr>
              <a:t>Separación de responsabilidades</a:t>
            </a:r>
            <a:r>
              <a:rPr lang="en" sz="1322">
                <a:latin typeface="Arial"/>
                <a:ea typeface="Arial"/>
                <a:cs typeface="Arial"/>
                <a:sym typeface="Arial"/>
              </a:rPr>
              <a:t>: Una API REST se centra en proporcionar acceso a datos y funcionalidades del servidor, mientras que la interfaz de usuario (UI) se implementa por separado en el cliente (por ejemplo, una aplicación web frontend, una aplicación móvil, una aplicación de escritorio etc).</a:t>
            </a:r>
            <a:br>
              <a:rPr lang="en" sz="1322">
                <a:latin typeface="Arial"/>
                <a:ea typeface="Arial"/>
                <a:cs typeface="Arial"/>
                <a:sym typeface="Arial"/>
              </a:rPr>
            </a:br>
            <a:endParaRPr sz="1322">
              <a:latin typeface="Arial"/>
              <a:ea typeface="Arial"/>
              <a:cs typeface="Arial"/>
              <a:sym typeface="Arial"/>
            </a:endParaRPr>
          </a:p>
          <a:p>
            <a:pPr indent="-304214" lvl="0" marL="457200" rtl="0" algn="just">
              <a:lnSpc>
                <a:spcPct val="115000"/>
              </a:lnSpc>
              <a:spcBef>
                <a:spcPts val="0"/>
              </a:spcBef>
              <a:spcAft>
                <a:spcPts val="0"/>
              </a:spcAft>
              <a:buClr>
                <a:schemeClr val="dk1"/>
              </a:buClr>
              <a:buSzPct val="100000"/>
              <a:buFont typeface="Arial"/>
              <a:buChar char="●"/>
            </a:pPr>
            <a:r>
              <a:rPr b="1" lang="en" sz="1322">
                <a:latin typeface="Arial"/>
                <a:ea typeface="Arial"/>
                <a:cs typeface="Arial"/>
                <a:sym typeface="Arial"/>
              </a:rPr>
              <a:t>Más flexible y escalable</a:t>
            </a:r>
            <a:r>
              <a:rPr lang="en" sz="1322">
                <a:latin typeface="Arial"/>
                <a:ea typeface="Arial"/>
                <a:cs typeface="Arial"/>
                <a:sym typeface="Arial"/>
              </a:rPr>
              <a:t>: Las API REST permiten una mayor flexibilidad y escalabilidad al separar la presentación de los datos y la lógica del negocio del servidor. Esto facilita la construcción de aplicaciones que pueden ser utilizadas por múltiples clientes (como aplicaciones web, móviles o de escritorio) y que pueden escalar más fácilmente a medida que aumenta la demanda.</a:t>
            </a:r>
            <a:br>
              <a:rPr lang="en" sz="1322">
                <a:latin typeface="Arial"/>
                <a:ea typeface="Arial"/>
                <a:cs typeface="Arial"/>
                <a:sym typeface="Arial"/>
              </a:rPr>
            </a:br>
            <a:endParaRPr sz="1322">
              <a:latin typeface="Arial"/>
              <a:ea typeface="Arial"/>
              <a:cs typeface="Arial"/>
              <a:sym typeface="Arial"/>
            </a:endParaRPr>
          </a:p>
          <a:p>
            <a:pPr indent="-291507" lvl="0" marL="457200" rtl="0" algn="just">
              <a:lnSpc>
                <a:spcPct val="115000"/>
              </a:lnSpc>
              <a:spcBef>
                <a:spcPts val="0"/>
              </a:spcBef>
              <a:spcAft>
                <a:spcPts val="0"/>
              </a:spcAft>
              <a:buClr>
                <a:srgbClr val="000000"/>
              </a:buClr>
              <a:buSzPct val="83193"/>
              <a:buFont typeface="Arial"/>
              <a:buChar char="●"/>
            </a:pPr>
            <a:r>
              <a:rPr b="1" lang="en" sz="1322">
                <a:latin typeface="Arial"/>
                <a:ea typeface="Arial"/>
                <a:cs typeface="Arial"/>
                <a:sym typeface="Arial"/>
              </a:rPr>
              <a:t>Experiencia de usuario más dinámica</a:t>
            </a:r>
            <a:r>
              <a:rPr lang="en" sz="1322">
                <a:latin typeface="Arial"/>
                <a:ea typeface="Arial"/>
                <a:cs typeface="Arial"/>
                <a:sym typeface="Arial"/>
              </a:rPr>
              <a:t>: Las aplicaciones que consumen una API REST suelen ofrecer una experiencia de usuario más dinámica, con interfaces de usuario interactivas que pueden actualizar partes específicas de la página sin necesidad de recargarla por completo. Esto puede ser más adecuado para aplicaciones donde la interactividad y la respuesta en tiempo real son importantes.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just">
              <a:lnSpc>
                <a:spcPct val="115000"/>
              </a:lnSpc>
              <a:spcBef>
                <a:spcPts val="1200"/>
              </a:spcBef>
              <a:spcAft>
                <a:spcPts val="0"/>
              </a:spcAft>
              <a:buSzPct val="303030"/>
              <a:buNone/>
            </a:pPr>
            <a:r>
              <a:t/>
            </a:r>
            <a:endParaRPr b="1" sz="1100">
              <a:solidFill>
                <a:srgbClr val="000000"/>
              </a:solidFill>
              <a:latin typeface="Arial"/>
              <a:ea typeface="Arial"/>
              <a:cs typeface="Arial"/>
              <a:sym typeface="Arial"/>
            </a:endParaRPr>
          </a:p>
          <a:p>
            <a:pPr indent="0" lvl="0" marL="0" rtl="0" algn="just">
              <a:lnSpc>
                <a:spcPct val="115000"/>
              </a:lnSpc>
              <a:spcBef>
                <a:spcPts val="1200"/>
              </a:spcBef>
              <a:spcAft>
                <a:spcPts val="0"/>
              </a:spcAft>
              <a:buSzPct val="111111"/>
              <a:buNone/>
            </a:pPr>
            <a:r>
              <a:t/>
            </a:r>
            <a:endParaRPr/>
          </a:p>
          <a:p>
            <a:pPr indent="0" lvl="0" marL="0" rtl="0" algn="just">
              <a:lnSpc>
                <a:spcPct val="100000"/>
              </a:lnSpc>
              <a:spcBef>
                <a:spcPts val="1200"/>
              </a:spcBef>
              <a:spcAft>
                <a:spcPts val="0"/>
              </a:spcAft>
              <a:buSzPct val="111111"/>
              <a:buNone/>
            </a:pPr>
            <a:r>
              <a:t/>
            </a:r>
            <a:endParaRPr/>
          </a:p>
        </p:txBody>
      </p:sp>
      <p:pic>
        <p:nvPicPr>
          <p:cNvPr id="82" name="Google Shape;82;p4"/>
          <p:cNvPicPr preferRelativeResize="0"/>
          <p:nvPr/>
        </p:nvPicPr>
        <p:blipFill rotWithShape="1">
          <a:blip r:embed="rId3">
            <a:alphaModFix/>
          </a:blip>
          <a:srcRect b="0" l="0" r="0" t="0"/>
          <a:stretch/>
        </p:blipFill>
        <p:spPr>
          <a:xfrm>
            <a:off x="150500" y="337925"/>
            <a:ext cx="1681225" cy="792600"/>
          </a:xfrm>
          <a:prstGeom prst="rect">
            <a:avLst/>
          </a:prstGeom>
          <a:noFill/>
          <a:ln>
            <a:noFill/>
          </a:ln>
        </p:spPr>
      </p:pic>
      <p:pic>
        <p:nvPicPr>
          <p:cNvPr id="83" name="Google Shape;83;p4"/>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87" name="Shape 87"/>
        <p:cNvGrpSpPr/>
        <p:nvPr/>
      </p:nvGrpSpPr>
      <p:grpSpPr>
        <a:xfrm>
          <a:off x="0" y="0"/>
          <a:ext cx="0" cy="0"/>
          <a:chOff x="0" y="0"/>
          <a:chExt cx="0" cy="0"/>
        </a:xfrm>
      </p:grpSpPr>
      <p:pic>
        <p:nvPicPr>
          <p:cNvPr id="88" name="Google Shape;88;p5"/>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89" name="Google Shape;89;p5"/>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90" name="Google Shape;90;p5"/>
          <p:cNvSpPr txBox="1"/>
          <p:nvPr/>
        </p:nvSpPr>
        <p:spPr>
          <a:xfrm>
            <a:off x="762500" y="1829700"/>
            <a:ext cx="7097100" cy="18378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2400"/>
              </a:spcBef>
              <a:spcAft>
                <a:spcPts val="0"/>
              </a:spcAft>
              <a:buClr>
                <a:srgbClr val="000000"/>
              </a:buClr>
              <a:buSzPts val="2800"/>
              <a:buFont typeface="Arial"/>
              <a:buNone/>
            </a:pPr>
            <a:r>
              <a:rPr b="1" i="0" lang="en" sz="2800" u="none" cap="none" strike="noStrike">
                <a:solidFill>
                  <a:schemeClr val="dk1"/>
                </a:solidFill>
                <a:latin typeface="Arial"/>
                <a:ea typeface="Arial"/>
                <a:cs typeface="Arial"/>
                <a:sym typeface="Arial"/>
              </a:rPr>
              <a:t>Pasos para crear una aplicación con Spring Boot elemental que sirva una API</a:t>
            </a:r>
            <a:endParaRPr b="1" i="0" sz="2800" u="none" cap="none" strike="noStrike">
              <a:solidFill>
                <a:schemeClr val="dk1"/>
              </a:solidFill>
              <a:latin typeface="Arial"/>
              <a:ea typeface="Arial"/>
              <a:cs typeface="Arial"/>
              <a:sym typeface="Arial"/>
            </a:endParaRPr>
          </a:p>
          <a:p>
            <a:pPr indent="0" lvl="0" marL="0" marR="0" rtl="0" algn="l">
              <a:lnSpc>
                <a:spcPct val="115000"/>
              </a:lnSpc>
              <a:spcBef>
                <a:spcPts val="2400"/>
              </a:spcBef>
              <a:spcAft>
                <a:spcPts val="600"/>
              </a:spcAft>
              <a:buClr>
                <a:srgbClr val="000000"/>
              </a:buClr>
              <a:buSzPts val="2300"/>
              <a:buFont typeface="Arial"/>
              <a:buNone/>
            </a:pPr>
            <a:r>
              <a:t/>
            </a:r>
            <a:endParaRPr b="1" i="0" sz="23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94" name="Shape 94"/>
        <p:cNvGrpSpPr/>
        <p:nvPr/>
      </p:nvGrpSpPr>
      <p:grpSpPr>
        <a:xfrm>
          <a:off x="0" y="0"/>
          <a:ext cx="0" cy="0"/>
          <a:chOff x="0" y="0"/>
          <a:chExt cx="0" cy="0"/>
        </a:xfrm>
      </p:grpSpPr>
      <p:pic>
        <p:nvPicPr>
          <p:cNvPr id="95" name="Google Shape;95;p6"/>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96" name="Google Shape;96;p6"/>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97" name="Google Shape;97;p6"/>
          <p:cNvSpPr txBox="1"/>
          <p:nvPr/>
        </p:nvSpPr>
        <p:spPr>
          <a:xfrm>
            <a:off x="762500" y="1392625"/>
            <a:ext cx="7097100" cy="39282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800"/>
              </a:spcBef>
              <a:spcAft>
                <a:spcPts val="0"/>
              </a:spcAft>
              <a:buClr>
                <a:srgbClr val="000000"/>
              </a:buClr>
              <a:buSzPts val="2500"/>
              <a:buFont typeface="Arial"/>
              <a:buNone/>
            </a:pPr>
            <a:r>
              <a:rPr b="1" i="0" lang="en" sz="2500" u="none" cap="none" strike="noStrike">
                <a:solidFill>
                  <a:schemeClr val="dk1"/>
                </a:solidFill>
                <a:latin typeface="Arial"/>
                <a:ea typeface="Arial"/>
                <a:cs typeface="Arial"/>
                <a:sym typeface="Arial"/>
              </a:rPr>
              <a:t>Problema</a:t>
            </a:r>
            <a:endParaRPr b="1" i="0" sz="25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rgbClr val="000000"/>
              </a:buClr>
              <a:buSzPts val="1900"/>
              <a:buFont typeface="Arial"/>
              <a:buNone/>
            </a:pPr>
            <a:r>
              <a:rPr b="0" i="0" lang="en" sz="1900" u="none" cap="none" strike="noStrike">
                <a:solidFill>
                  <a:schemeClr val="dk1"/>
                </a:solidFill>
                <a:latin typeface="Arial"/>
                <a:ea typeface="Arial"/>
                <a:cs typeface="Arial"/>
                <a:sym typeface="Arial"/>
              </a:rPr>
              <a:t>En el concepto anterior desarrollamos una página dinámica que muestra un chiste en forma aleatorio. Vamos a desarrollar el mismo problema pero en vez de retornar una página dinámica en HTML, vamos a retornar un archivo JSON con un chiste al azar y otra URL va a retornar un JSON con todos los chistes.</a:t>
            </a:r>
            <a:endParaRPr b="0" i="0" sz="1900" u="none" cap="none" strike="noStrike">
              <a:solidFill>
                <a:schemeClr val="dk1"/>
              </a:solidFill>
              <a:latin typeface="Arial"/>
              <a:ea typeface="Arial"/>
              <a:cs typeface="Arial"/>
              <a:sym typeface="Arial"/>
            </a:endParaRPr>
          </a:p>
          <a:p>
            <a:pPr indent="0" lvl="0" marL="0" marR="0" rtl="0" algn="ctr">
              <a:lnSpc>
                <a:spcPct val="115000"/>
              </a:lnSpc>
              <a:spcBef>
                <a:spcPts val="2400"/>
              </a:spcBef>
              <a:spcAft>
                <a:spcPts val="0"/>
              </a:spcAft>
              <a:buClr>
                <a:srgbClr val="000000"/>
              </a:buClr>
              <a:buSzPts val="2800"/>
              <a:buFont typeface="Arial"/>
              <a:buNone/>
            </a:pPr>
            <a:r>
              <a:t/>
            </a:r>
            <a:endParaRPr b="1" i="0" sz="2800" u="none" cap="none" strike="noStrike">
              <a:solidFill>
                <a:schemeClr val="dk1"/>
              </a:solidFill>
              <a:latin typeface="Arial"/>
              <a:ea typeface="Arial"/>
              <a:cs typeface="Arial"/>
              <a:sym typeface="Arial"/>
            </a:endParaRPr>
          </a:p>
          <a:p>
            <a:pPr indent="0" lvl="0" marL="0" marR="0" rtl="0" algn="l">
              <a:lnSpc>
                <a:spcPct val="115000"/>
              </a:lnSpc>
              <a:spcBef>
                <a:spcPts val="2400"/>
              </a:spcBef>
              <a:spcAft>
                <a:spcPts val="600"/>
              </a:spcAft>
              <a:buClr>
                <a:srgbClr val="000000"/>
              </a:buClr>
              <a:buSzPts val="2300"/>
              <a:buFont typeface="Arial"/>
              <a:buNone/>
            </a:pPr>
            <a:r>
              <a:t/>
            </a:r>
            <a:endParaRPr b="1" i="0" sz="23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01" name="Shape 101"/>
        <p:cNvGrpSpPr/>
        <p:nvPr/>
      </p:nvGrpSpPr>
      <p:grpSpPr>
        <a:xfrm>
          <a:off x="0" y="0"/>
          <a:ext cx="0" cy="0"/>
          <a:chOff x="0" y="0"/>
          <a:chExt cx="0" cy="0"/>
        </a:xfrm>
      </p:grpSpPr>
      <p:pic>
        <p:nvPicPr>
          <p:cNvPr id="102" name="Google Shape;102;p7"/>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103" name="Google Shape;103;p7"/>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104" name="Google Shape;104;p7"/>
          <p:cNvSpPr txBox="1"/>
          <p:nvPr/>
        </p:nvSpPr>
        <p:spPr>
          <a:xfrm>
            <a:off x="762500" y="1130525"/>
            <a:ext cx="7097100" cy="18378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2400"/>
              </a:spcBef>
              <a:spcAft>
                <a:spcPts val="0"/>
              </a:spcAft>
              <a:buClr>
                <a:srgbClr val="000000"/>
              </a:buClr>
              <a:buSzPts val="2800"/>
              <a:buFont typeface="Arial"/>
              <a:buNone/>
            </a:pPr>
            <a:r>
              <a:rPr b="1" i="0" lang="en" sz="2800" u="none" cap="none" strike="noStrike">
                <a:solidFill>
                  <a:schemeClr val="dk1"/>
                </a:solidFill>
                <a:latin typeface="Arial"/>
                <a:ea typeface="Arial"/>
                <a:cs typeface="Arial"/>
                <a:sym typeface="Arial"/>
              </a:rPr>
              <a:t>Las URL para hacer las peticiones serán:</a:t>
            </a:r>
            <a:endParaRPr b="1" i="0" sz="2800" u="none" cap="none" strike="noStrike">
              <a:solidFill>
                <a:schemeClr val="dk1"/>
              </a:solidFill>
              <a:latin typeface="Arial"/>
              <a:ea typeface="Arial"/>
              <a:cs typeface="Arial"/>
              <a:sym typeface="Arial"/>
            </a:endParaRPr>
          </a:p>
          <a:p>
            <a:pPr indent="0" lvl="0" marL="0" marR="0" rtl="0" algn="l">
              <a:lnSpc>
                <a:spcPct val="115000"/>
              </a:lnSpc>
              <a:spcBef>
                <a:spcPts val="2400"/>
              </a:spcBef>
              <a:spcAft>
                <a:spcPts val="600"/>
              </a:spcAft>
              <a:buClr>
                <a:srgbClr val="000000"/>
              </a:buClr>
              <a:buSzPts val="2300"/>
              <a:buFont typeface="Arial"/>
              <a:buNone/>
            </a:pPr>
            <a:r>
              <a:t/>
            </a:r>
            <a:endParaRPr b="1" i="0" sz="2300" u="none" cap="none" strike="noStrike">
              <a:solidFill>
                <a:srgbClr val="000000"/>
              </a:solidFill>
              <a:latin typeface="Arial"/>
              <a:ea typeface="Arial"/>
              <a:cs typeface="Arial"/>
              <a:sym typeface="Arial"/>
            </a:endParaRPr>
          </a:p>
        </p:txBody>
      </p:sp>
      <p:pic>
        <p:nvPicPr>
          <p:cNvPr id="105" name="Google Shape;105;p7"/>
          <p:cNvPicPr preferRelativeResize="0"/>
          <p:nvPr/>
        </p:nvPicPr>
        <p:blipFill rotWithShape="1">
          <a:blip r:embed="rId5">
            <a:alphaModFix/>
          </a:blip>
          <a:srcRect b="0" l="0" r="0" t="0"/>
          <a:stretch/>
        </p:blipFill>
        <p:spPr>
          <a:xfrm>
            <a:off x="152400" y="2754775"/>
            <a:ext cx="8839200" cy="888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09" name="Shape 109"/>
        <p:cNvGrpSpPr/>
        <p:nvPr/>
      </p:nvGrpSpPr>
      <p:grpSpPr>
        <a:xfrm>
          <a:off x="0" y="0"/>
          <a:ext cx="0" cy="0"/>
          <a:chOff x="0" y="0"/>
          <a:chExt cx="0" cy="0"/>
        </a:xfrm>
      </p:grpSpPr>
      <p:pic>
        <p:nvPicPr>
          <p:cNvPr id="110" name="Google Shape;110;p8"/>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111" name="Google Shape;111;p8"/>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112" name="Google Shape;112;p8"/>
          <p:cNvSpPr txBox="1"/>
          <p:nvPr>
            <p:ph type="title"/>
          </p:nvPr>
        </p:nvSpPr>
        <p:spPr>
          <a:xfrm>
            <a:off x="933275" y="1523050"/>
            <a:ext cx="7139700" cy="2991900"/>
          </a:xfrm>
          <a:prstGeom prst="rect">
            <a:avLst/>
          </a:prstGeom>
          <a:noFill/>
          <a:ln>
            <a:noFill/>
          </a:ln>
        </p:spPr>
        <p:txBody>
          <a:bodyPr anchorCtr="0" anchor="t" bIns="91425" lIns="91425" spcFirstLastPara="1" rIns="91425" wrap="square" tIns="91425">
            <a:normAutofit fontScale="90000"/>
          </a:bodyPr>
          <a:lstStyle/>
          <a:p>
            <a:pPr indent="0" lvl="0" marL="0" rtl="0" algn="just">
              <a:lnSpc>
                <a:spcPct val="100000"/>
              </a:lnSpc>
              <a:spcBef>
                <a:spcPts val="0"/>
              </a:spcBef>
              <a:spcAft>
                <a:spcPts val="0"/>
              </a:spcAft>
              <a:buSzPct val="111111"/>
              <a:buNone/>
            </a:pPr>
            <a:r>
              <a:rPr lang="en"/>
              <a:t>Lo primero que vamos a hacer notar que gran parte es lo mismo. Debemos crear el modelo, el servicio y el controlador (veremos que en la clase del controlador es donde tenemos más diferencias, además no dispondremos nada en la carpeta template ya que no retornaremos HTML dinámico, no necesitamos el módulo de ThymeLeap)</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16" name="Shape 116"/>
        <p:cNvGrpSpPr/>
        <p:nvPr/>
      </p:nvGrpSpPr>
      <p:grpSpPr>
        <a:xfrm>
          <a:off x="0" y="0"/>
          <a:ext cx="0" cy="0"/>
          <a:chOff x="0" y="0"/>
          <a:chExt cx="0" cy="0"/>
        </a:xfrm>
      </p:grpSpPr>
      <p:pic>
        <p:nvPicPr>
          <p:cNvPr id="117" name="Google Shape;117;p9"/>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118" name="Google Shape;118;p9"/>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119" name="Google Shape;119;p9"/>
          <p:cNvSpPr txBox="1"/>
          <p:nvPr>
            <p:ph type="title"/>
          </p:nvPr>
        </p:nvSpPr>
        <p:spPr>
          <a:xfrm>
            <a:off x="191250" y="1075800"/>
            <a:ext cx="4486800" cy="2516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SzPct val="111111"/>
              <a:buNone/>
            </a:pPr>
            <a:r>
              <a:rPr lang="en"/>
              <a:t>Los pasos para crear el proyecto:</a:t>
            </a:r>
            <a:endParaRPr/>
          </a:p>
          <a:p>
            <a:pPr indent="-291465" lvl="0" marL="457200" rtl="0" algn="l">
              <a:lnSpc>
                <a:spcPct val="115000"/>
              </a:lnSpc>
              <a:spcBef>
                <a:spcPts val="1200"/>
              </a:spcBef>
              <a:spcAft>
                <a:spcPts val="0"/>
              </a:spcAft>
              <a:buClr>
                <a:srgbClr val="000000"/>
              </a:buClr>
              <a:buSzPct val="36666"/>
              <a:buFont typeface="Arial"/>
              <a:buChar char="●"/>
            </a:pPr>
            <a:r>
              <a:rPr lang="en"/>
              <a:t>Desde el menú de opciones seleccionamos File-&gt; New -&gt; Spring Starter Project:</a:t>
            </a:r>
            <a:endParaRPr/>
          </a:p>
          <a:p>
            <a:pPr indent="0" lvl="0" marL="0" rtl="0" algn="just">
              <a:lnSpc>
                <a:spcPct val="100000"/>
              </a:lnSpc>
              <a:spcBef>
                <a:spcPts val="1200"/>
              </a:spcBef>
              <a:spcAft>
                <a:spcPts val="0"/>
              </a:spcAft>
              <a:buSzPct val="111111"/>
              <a:buNone/>
            </a:pPr>
            <a:r>
              <a:t/>
            </a:r>
            <a:endParaRPr/>
          </a:p>
        </p:txBody>
      </p:sp>
      <p:pic>
        <p:nvPicPr>
          <p:cNvPr id="120" name="Google Shape;120;p9"/>
          <p:cNvPicPr preferRelativeResize="0"/>
          <p:nvPr/>
        </p:nvPicPr>
        <p:blipFill rotWithShape="1">
          <a:blip r:embed="rId5">
            <a:alphaModFix/>
          </a:blip>
          <a:srcRect b="0" l="0" r="0" t="0"/>
          <a:stretch/>
        </p:blipFill>
        <p:spPr>
          <a:xfrm>
            <a:off x="4572000" y="1382050"/>
            <a:ext cx="4338274" cy="33589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24" name="Shape 124"/>
        <p:cNvGrpSpPr/>
        <p:nvPr/>
      </p:nvGrpSpPr>
      <p:grpSpPr>
        <a:xfrm>
          <a:off x="0" y="0"/>
          <a:ext cx="0" cy="0"/>
          <a:chOff x="0" y="0"/>
          <a:chExt cx="0" cy="0"/>
        </a:xfrm>
      </p:grpSpPr>
      <p:pic>
        <p:nvPicPr>
          <p:cNvPr id="125" name="Google Shape;125;p10"/>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126" name="Google Shape;126;p10"/>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127" name="Google Shape;127;p10"/>
          <p:cNvSpPr txBox="1"/>
          <p:nvPr>
            <p:ph type="title"/>
          </p:nvPr>
        </p:nvSpPr>
        <p:spPr>
          <a:xfrm>
            <a:off x="191250" y="1075800"/>
            <a:ext cx="4858200" cy="2991900"/>
          </a:xfrm>
          <a:prstGeom prst="rect">
            <a:avLst/>
          </a:prstGeom>
          <a:noFill/>
          <a:ln>
            <a:noFill/>
          </a:ln>
        </p:spPr>
        <p:txBody>
          <a:bodyPr anchorCtr="0" anchor="t" bIns="91425" lIns="91425" spcFirstLastPara="1" rIns="91425" wrap="square" tIns="91425">
            <a:normAutofit/>
          </a:bodyPr>
          <a:lstStyle/>
          <a:p>
            <a:pPr indent="0" lvl="0" marL="0" rtl="0" algn="just">
              <a:lnSpc>
                <a:spcPct val="100000"/>
              </a:lnSpc>
              <a:spcBef>
                <a:spcPts val="0"/>
              </a:spcBef>
              <a:spcAft>
                <a:spcPts val="0"/>
              </a:spcAft>
              <a:buSzPts val="3000"/>
              <a:buNone/>
            </a:pPr>
            <a:r>
              <a:rPr lang="en"/>
              <a:t>En el primer diálogo procedemos a definir el nombre de nuestro proyecto. Utilizaremos Maven como herramienta de gestión de proyecto.</a:t>
            </a:r>
            <a:endParaRPr/>
          </a:p>
        </p:txBody>
      </p:sp>
      <p:pic>
        <p:nvPicPr>
          <p:cNvPr id="128" name="Google Shape;128;p10"/>
          <p:cNvPicPr preferRelativeResize="0"/>
          <p:nvPr/>
        </p:nvPicPr>
        <p:blipFill rotWithShape="1">
          <a:blip r:embed="rId5">
            <a:alphaModFix/>
          </a:blip>
          <a:srcRect b="0" l="0" r="0" t="0"/>
          <a:stretch/>
        </p:blipFill>
        <p:spPr>
          <a:xfrm>
            <a:off x="5216675" y="1260150"/>
            <a:ext cx="3242651" cy="37512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32" name="Shape 132"/>
        <p:cNvGrpSpPr/>
        <p:nvPr/>
      </p:nvGrpSpPr>
      <p:grpSpPr>
        <a:xfrm>
          <a:off x="0" y="0"/>
          <a:ext cx="0" cy="0"/>
          <a:chOff x="0" y="0"/>
          <a:chExt cx="0" cy="0"/>
        </a:xfrm>
      </p:grpSpPr>
      <p:pic>
        <p:nvPicPr>
          <p:cNvPr id="133" name="Google Shape;133;p11"/>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134" name="Google Shape;134;p11"/>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135" name="Google Shape;135;p11"/>
          <p:cNvSpPr txBox="1"/>
          <p:nvPr>
            <p:ph type="title"/>
          </p:nvPr>
        </p:nvSpPr>
        <p:spPr>
          <a:xfrm>
            <a:off x="221750" y="1260150"/>
            <a:ext cx="4858200" cy="2991900"/>
          </a:xfrm>
          <a:prstGeom prst="rect">
            <a:avLst/>
          </a:prstGeom>
          <a:noFill/>
          <a:ln>
            <a:noFill/>
          </a:ln>
        </p:spPr>
        <p:txBody>
          <a:bodyPr anchorCtr="0" anchor="t" bIns="91425" lIns="91425" spcFirstLastPara="1" rIns="91425" wrap="square" tIns="91425">
            <a:normAutofit/>
          </a:bodyPr>
          <a:lstStyle/>
          <a:p>
            <a:pPr indent="0" lvl="0" marL="0" rtl="0" algn="just">
              <a:lnSpc>
                <a:spcPct val="100000"/>
              </a:lnSpc>
              <a:spcBef>
                <a:spcPts val="0"/>
              </a:spcBef>
              <a:spcAft>
                <a:spcPts val="0"/>
              </a:spcAft>
              <a:buSzPts val="3000"/>
              <a:buNone/>
            </a:pPr>
            <a:r>
              <a:rPr lang="en"/>
              <a:t>En el segundo diálogo seleccionamos solo la dependencia "Spring Web" y no "Thymeleaf"</a:t>
            </a:r>
            <a:endParaRPr/>
          </a:p>
        </p:txBody>
      </p:sp>
      <p:pic>
        <p:nvPicPr>
          <p:cNvPr id="136" name="Google Shape;136;p11"/>
          <p:cNvPicPr preferRelativeResize="0"/>
          <p:nvPr/>
        </p:nvPicPr>
        <p:blipFill rotWithShape="1">
          <a:blip r:embed="rId5">
            <a:alphaModFix/>
          </a:blip>
          <a:srcRect b="0" l="0" r="0" t="0"/>
          <a:stretch/>
        </p:blipFill>
        <p:spPr>
          <a:xfrm>
            <a:off x="5344175" y="1260150"/>
            <a:ext cx="3430275" cy="37309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40" name="Shape 140"/>
        <p:cNvGrpSpPr/>
        <p:nvPr/>
      </p:nvGrpSpPr>
      <p:grpSpPr>
        <a:xfrm>
          <a:off x="0" y="0"/>
          <a:ext cx="0" cy="0"/>
          <a:chOff x="0" y="0"/>
          <a:chExt cx="0" cy="0"/>
        </a:xfrm>
      </p:grpSpPr>
      <p:pic>
        <p:nvPicPr>
          <p:cNvPr id="141" name="Google Shape;141;p12"/>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142" name="Google Shape;142;p12"/>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143" name="Google Shape;143;p12"/>
          <p:cNvSpPr txBox="1"/>
          <p:nvPr>
            <p:ph type="title"/>
          </p:nvPr>
        </p:nvSpPr>
        <p:spPr>
          <a:xfrm>
            <a:off x="191250" y="1345850"/>
            <a:ext cx="8491800" cy="32100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SzPct val="120033"/>
              <a:buNone/>
            </a:pPr>
            <a:r>
              <a:rPr lang="en" sz="2777"/>
              <a:t>Ahora en el paquete 'com.example.demo' procedemos a crear la carpeta 'model' presionando el botón derecho del mouse y definiendo como su nombre 'model', igual que en el ejemplo anterior.</a:t>
            </a:r>
            <a:endParaRPr sz="2777"/>
          </a:p>
          <a:p>
            <a:pPr indent="0" lvl="0" marL="0" rtl="0" algn="l">
              <a:lnSpc>
                <a:spcPct val="115000"/>
              </a:lnSpc>
              <a:spcBef>
                <a:spcPts val="1200"/>
              </a:spcBef>
              <a:spcAft>
                <a:spcPts val="0"/>
              </a:spcAft>
              <a:buSzPct val="120033"/>
              <a:buNone/>
            </a:pPr>
            <a:r>
              <a:rPr lang="en" sz="2777"/>
              <a:t>En la carpeta model procedemos a crear la clase Chiste de forma idéntica como hicimos en el proyecto anterior.</a:t>
            </a:r>
            <a:endParaRPr sz="2777"/>
          </a:p>
          <a:p>
            <a:pPr indent="0" lvl="0" marL="0" rtl="0" algn="l">
              <a:lnSpc>
                <a:spcPct val="115000"/>
              </a:lnSpc>
              <a:spcBef>
                <a:spcPts val="1200"/>
              </a:spcBef>
              <a:spcAft>
                <a:spcPts val="0"/>
              </a:spcAft>
              <a:buSzPct val="120033"/>
              <a:buNone/>
            </a:pPr>
            <a:r>
              <a:rPr lang="en" sz="2777"/>
              <a:t>El código de la clase Chiste es el siguiente:</a:t>
            </a:r>
            <a:endParaRPr sz="2777"/>
          </a:p>
          <a:p>
            <a:pPr indent="0" lvl="0" marL="0" rtl="0" algn="just">
              <a:lnSpc>
                <a:spcPct val="115000"/>
              </a:lnSpc>
              <a:spcBef>
                <a:spcPts val="1200"/>
              </a:spcBef>
              <a:spcAft>
                <a:spcPts val="0"/>
              </a:spcAft>
              <a:buSzPct val="111111"/>
              <a:buNone/>
            </a:pPr>
            <a:r>
              <a:t/>
            </a:r>
            <a:endParaRPr/>
          </a:p>
          <a:p>
            <a:pPr indent="0" lvl="0" marL="0" rtl="0" algn="just">
              <a:lnSpc>
                <a:spcPct val="100000"/>
              </a:lnSpc>
              <a:spcBef>
                <a:spcPts val="1200"/>
              </a:spcBef>
              <a:spcAft>
                <a:spcPts val="0"/>
              </a:spcAft>
              <a:buSzPct val="111111"/>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47" name="Shape 147"/>
        <p:cNvGrpSpPr/>
        <p:nvPr/>
      </p:nvGrpSpPr>
      <p:grpSpPr>
        <a:xfrm>
          <a:off x="0" y="0"/>
          <a:ext cx="0" cy="0"/>
          <a:chOff x="0" y="0"/>
          <a:chExt cx="0" cy="0"/>
        </a:xfrm>
      </p:grpSpPr>
      <p:pic>
        <p:nvPicPr>
          <p:cNvPr id="148" name="Google Shape;148;p13"/>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149" name="Google Shape;149;p13"/>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pic>
        <p:nvPicPr>
          <p:cNvPr id="150" name="Google Shape;150;p13"/>
          <p:cNvPicPr preferRelativeResize="0"/>
          <p:nvPr/>
        </p:nvPicPr>
        <p:blipFill rotWithShape="1">
          <a:blip r:embed="rId5">
            <a:alphaModFix/>
          </a:blip>
          <a:srcRect b="0" l="0" r="0" t="0"/>
          <a:stretch/>
        </p:blipFill>
        <p:spPr>
          <a:xfrm>
            <a:off x="254050" y="1260150"/>
            <a:ext cx="8367924" cy="37081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54" name="Shape 154"/>
        <p:cNvGrpSpPr/>
        <p:nvPr/>
      </p:nvGrpSpPr>
      <p:grpSpPr>
        <a:xfrm>
          <a:off x="0" y="0"/>
          <a:ext cx="0" cy="0"/>
          <a:chOff x="0" y="0"/>
          <a:chExt cx="0" cy="0"/>
        </a:xfrm>
      </p:grpSpPr>
      <p:pic>
        <p:nvPicPr>
          <p:cNvPr id="155" name="Google Shape;155;p14"/>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156" name="Google Shape;156;p14"/>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157" name="Google Shape;157;p14"/>
          <p:cNvSpPr txBox="1"/>
          <p:nvPr>
            <p:ph type="title"/>
          </p:nvPr>
        </p:nvSpPr>
        <p:spPr>
          <a:xfrm>
            <a:off x="367975" y="1301125"/>
            <a:ext cx="8193000" cy="35985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SzPts val="3000"/>
              <a:buNone/>
            </a:pPr>
            <a:r>
              <a:rPr lang="en" sz="2100"/>
              <a:t>Igual que en el ejercicio anterior, procedemos a presionar con el botón derecho del mouse el paquete 'com.example.demo' y crear la carpeta 'service'</a:t>
            </a:r>
            <a:endParaRPr sz="2100"/>
          </a:p>
          <a:p>
            <a:pPr indent="0" lvl="0" marL="0" rtl="0" algn="just">
              <a:lnSpc>
                <a:spcPct val="115000"/>
              </a:lnSpc>
              <a:spcBef>
                <a:spcPts val="1200"/>
              </a:spcBef>
              <a:spcAft>
                <a:spcPts val="0"/>
              </a:spcAft>
              <a:buSzPts val="3000"/>
              <a:buNone/>
            </a:pPr>
            <a:r>
              <a:rPr lang="en" sz="2100"/>
              <a:t>Y en el diálogo procedemos a indicar el nombre 'service' (es una convención comúnmente adoptada)</a:t>
            </a:r>
            <a:endParaRPr sz="2100"/>
          </a:p>
          <a:p>
            <a:pPr indent="0" lvl="0" marL="0" rtl="0" algn="just">
              <a:lnSpc>
                <a:spcPct val="115000"/>
              </a:lnSpc>
              <a:spcBef>
                <a:spcPts val="1200"/>
              </a:spcBef>
              <a:spcAft>
                <a:spcPts val="0"/>
              </a:spcAft>
              <a:buSzPts val="3000"/>
              <a:buNone/>
            </a:pPr>
            <a:r>
              <a:rPr lang="en" sz="2100"/>
              <a:t>En la carpeta service procedemos a crear la clase ChisteService igual que en el concepto anterior y agregamos un método que retorne todos los chistes:</a:t>
            </a:r>
            <a:endParaRPr sz="2100"/>
          </a:p>
          <a:p>
            <a:pPr indent="0" lvl="0" marL="0" rtl="0" algn="just">
              <a:lnSpc>
                <a:spcPct val="115000"/>
              </a:lnSpc>
              <a:spcBef>
                <a:spcPts val="1200"/>
              </a:spcBef>
              <a:spcAft>
                <a:spcPts val="0"/>
              </a:spcAft>
              <a:buSzPts val="3000"/>
              <a:buNone/>
            </a:pPr>
            <a:r>
              <a:rPr lang="en" sz="2100"/>
              <a:t>El código de la clase ChisteService es el siguiente:</a:t>
            </a:r>
            <a:endParaRPr sz="2100"/>
          </a:p>
          <a:p>
            <a:pPr indent="0" lvl="0" marL="0" rtl="0" algn="just">
              <a:lnSpc>
                <a:spcPct val="100000"/>
              </a:lnSpc>
              <a:spcBef>
                <a:spcPts val="1200"/>
              </a:spcBef>
              <a:spcAft>
                <a:spcPts val="0"/>
              </a:spcAft>
              <a:buSzPts val="990"/>
              <a:buNone/>
            </a:pPr>
            <a:r>
              <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61" name="Shape 161"/>
        <p:cNvGrpSpPr/>
        <p:nvPr/>
      </p:nvGrpSpPr>
      <p:grpSpPr>
        <a:xfrm>
          <a:off x="0" y="0"/>
          <a:ext cx="0" cy="0"/>
          <a:chOff x="0" y="0"/>
          <a:chExt cx="0" cy="0"/>
        </a:xfrm>
      </p:grpSpPr>
      <p:pic>
        <p:nvPicPr>
          <p:cNvPr id="162" name="Google Shape;162;p15"/>
          <p:cNvPicPr preferRelativeResize="0"/>
          <p:nvPr/>
        </p:nvPicPr>
        <p:blipFill rotWithShape="1">
          <a:blip r:embed="rId3">
            <a:alphaModFix/>
          </a:blip>
          <a:srcRect b="0" l="0" r="0" t="0"/>
          <a:stretch/>
        </p:blipFill>
        <p:spPr>
          <a:xfrm>
            <a:off x="83350" y="85375"/>
            <a:ext cx="8955375" cy="49808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66" name="Shape 166"/>
        <p:cNvGrpSpPr/>
        <p:nvPr/>
      </p:nvGrpSpPr>
      <p:grpSpPr>
        <a:xfrm>
          <a:off x="0" y="0"/>
          <a:ext cx="0" cy="0"/>
          <a:chOff x="0" y="0"/>
          <a:chExt cx="0" cy="0"/>
        </a:xfrm>
      </p:grpSpPr>
      <p:pic>
        <p:nvPicPr>
          <p:cNvPr id="167" name="Google Shape;167;p16"/>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168" name="Google Shape;168;p16"/>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169" name="Google Shape;169;p16"/>
          <p:cNvSpPr txBox="1"/>
          <p:nvPr/>
        </p:nvSpPr>
        <p:spPr>
          <a:xfrm>
            <a:off x="510000" y="1260150"/>
            <a:ext cx="8124000" cy="2875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600"/>
              <a:buFont typeface="Arial"/>
              <a:buNone/>
            </a:pPr>
            <a:r>
              <a:rPr b="0" i="0" lang="en" sz="1600" u="none" cap="none" strike="noStrike">
                <a:solidFill>
                  <a:schemeClr val="dk1"/>
                </a:solidFill>
                <a:latin typeface="Arial"/>
                <a:ea typeface="Arial"/>
                <a:cs typeface="Arial"/>
                <a:sym typeface="Arial"/>
              </a:rPr>
              <a:t>Recordemos que la anotación @Service en Spring es una de las varias anotaciones que se utilizan para definir los componentes de una aplicación.</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600"/>
              <a:buFont typeface="Arial"/>
              <a:buNone/>
            </a:pPr>
            <a:r>
              <a:rPr b="0" i="0" lang="en" sz="1600" u="none" cap="none" strike="noStrike">
                <a:solidFill>
                  <a:schemeClr val="dk1"/>
                </a:solidFill>
                <a:latin typeface="Arial"/>
                <a:ea typeface="Arial"/>
                <a:cs typeface="Arial"/>
                <a:sym typeface="Arial"/>
              </a:rPr>
              <a:t>Un componente de servicio en Spring generalmente se utiliza para alojar la lógica de negocio de la aplicación.</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600"/>
              <a:buFont typeface="Arial"/>
              <a:buNone/>
            </a:pPr>
            <a:r>
              <a:rPr b="0" i="0" lang="en" sz="1600" u="none" cap="none" strike="noStrike">
                <a:solidFill>
                  <a:schemeClr val="dk1"/>
                </a:solidFill>
                <a:latin typeface="Arial"/>
                <a:ea typeface="Arial"/>
                <a:cs typeface="Arial"/>
                <a:sym typeface="Arial"/>
              </a:rPr>
              <a:t>Proporcionan una capa de abstracción entre los controladores (o componentes que interactúan directamente con las solicitudes HTTP) y la capa de acceso a datos (más adelante veremos como acceder a una base de datos donde rescatar los chistes)</a:t>
            </a:r>
            <a:endParaRPr b="0" i="0" sz="16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120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73" name="Shape 173"/>
        <p:cNvGrpSpPr/>
        <p:nvPr/>
      </p:nvGrpSpPr>
      <p:grpSpPr>
        <a:xfrm>
          <a:off x="0" y="0"/>
          <a:ext cx="0" cy="0"/>
          <a:chOff x="0" y="0"/>
          <a:chExt cx="0" cy="0"/>
        </a:xfrm>
      </p:grpSpPr>
      <p:pic>
        <p:nvPicPr>
          <p:cNvPr id="174" name="Google Shape;174;p17"/>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175" name="Google Shape;175;p17"/>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176" name="Google Shape;176;p17"/>
          <p:cNvSpPr txBox="1"/>
          <p:nvPr/>
        </p:nvSpPr>
        <p:spPr>
          <a:xfrm>
            <a:off x="510000" y="1260150"/>
            <a:ext cx="8124000" cy="4008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0"/>
              </a:spcAft>
              <a:buClr>
                <a:srgbClr val="000000"/>
              </a:buClr>
              <a:buSzPts val="1600"/>
              <a:buFont typeface="Arial"/>
              <a:buNone/>
            </a:pPr>
            <a:r>
              <a:rPr b="0" i="0" lang="en" sz="1600" u="none" cap="none" strike="noStrike">
                <a:solidFill>
                  <a:schemeClr val="dk1"/>
                </a:solidFill>
                <a:latin typeface="Arial"/>
                <a:ea typeface="Arial"/>
                <a:cs typeface="Arial"/>
                <a:sym typeface="Arial"/>
              </a:rPr>
              <a:t>Los servicios son inyectados en otras clases de la aplicación, como controladores, otros servicios, o componentes de configuración.</a:t>
            </a:r>
            <a:endParaRPr b="0" i="0" sz="16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rgbClr val="000000"/>
              </a:buClr>
              <a:buSzPts val="1600"/>
              <a:buFont typeface="Arial"/>
              <a:buNone/>
            </a:pPr>
            <a:r>
              <a:rPr b="0" i="0" lang="en" sz="1600" u="none" cap="none" strike="noStrike">
                <a:solidFill>
                  <a:schemeClr val="dk1"/>
                </a:solidFill>
                <a:latin typeface="Arial"/>
                <a:ea typeface="Arial"/>
                <a:cs typeface="Arial"/>
                <a:sym typeface="Arial"/>
              </a:rPr>
              <a:t>La inyección de dependencias (Dependency Injection, DI) es un patrón de diseño fundamental en Spring Boot. La inyección de dependencias es un mecanismo que se utiliza para gestionar las dependencias entre diferentes componentes de una aplicación. En el contexto de Spring Boot, la inyección de dependencias se refiere a cómo Spring maneja las dependencias de los componentes y proporciona instancias de estas dependencias a los componentes que las necesitan (en nuestro ejemplo la creación de un objeto de la clase ChisteService la realiza autamáticamente Sprint Boot, en ningún lado hacemos un new de la clase ChisteService)</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120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80" name="Shape 180"/>
        <p:cNvGrpSpPr/>
        <p:nvPr/>
      </p:nvGrpSpPr>
      <p:grpSpPr>
        <a:xfrm>
          <a:off x="0" y="0"/>
          <a:ext cx="0" cy="0"/>
          <a:chOff x="0" y="0"/>
          <a:chExt cx="0" cy="0"/>
        </a:xfrm>
      </p:grpSpPr>
      <p:pic>
        <p:nvPicPr>
          <p:cNvPr id="181" name="Google Shape;181;p18"/>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182" name="Google Shape;182;p18"/>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183" name="Google Shape;183;p18"/>
          <p:cNvSpPr txBox="1"/>
          <p:nvPr/>
        </p:nvSpPr>
        <p:spPr>
          <a:xfrm>
            <a:off x="762500" y="1130525"/>
            <a:ext cx="7097100" cy="2829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2400"/>
              </a:spcBef>
              <a:spcAft>
                <a:spcPts val="0"/>
              </a:spcAft>
              <a:buClr>
                <a:srgbClr val="000000"/>
              </a:buClr>
              <a:buSzPts val="2800"/>
              <a:buFont typeface="Arial"/>
              <a:buNone/>
            </a:pPr>
            <a:r>
              <a:rPr b="1" i="0" lang="en" sz="2800" u="none" cap="none" strike="noStrike">
                <a:solidFill>
                  <a:schemeClr val="dk1"/>
                </a:solidFill>
                <a:latin typeface="Arial"/>
                <a:ea typeface="Arial"/>
                <a:cs typeface="Arial"/>
                <a:sym typeface="Arial"/>
              </a:rPr>
              <a:t>Lo único que hemos hecho diferente al ejercicio anterior, es agregar un método que retorne todos los chistes (podríamos no haberlo hecho):</a:t>
            </a:r>
            <a:endParaRPr b="1" i="0" sz="2800" u="none" cap="none" strike="noStrike">
              <a:solidFill>
                <a:schemeClr val="dk1"/>
              </a:solidFill>
              <a:latin typeface="Arial"/>
              <a:ea typeface="Arial"/>
              <a:cs typeface="Arial"/>
              <a:sym typeface="Arial"/>
            </a:endParaRPr>
          </a:p>
          <a:p>
            <a:pPr indent="0" lvl="0" marL="0" marR="0" rtl="0" algn="l">
              <a:lnSpc>
                <a:spcPct val="115000"/>
              </a:lnSpc>
              <a:spcBef>
                <a:spcPts val="2400"/>
              </a:spcBef>
              <a:spcAft>
                <a:spcPts val="600"/>
              </a:spcAft>
              <a:buClr>
                <a:srgbClr val="000000"/>
              </a:buClr>
              <a:buSzPts val="2300"/>
              <a:buFont typeface="Arial"/>
              <a:buNone/>
            </a:pPr>
            <a:r>
              <a:t/>
            </a:r>
            <a:endParaRPr b="1" i="0" sz="2300" u="none" cap="none" strike="noStrike">
              <a:solidFill>
                <a:srgbClr val="000000"/>
              </a:solidFill>
              <a:latin typeface="Arial"/>
              <a:ea typeface="Arial"/>
              <a:cs typeface="Arial"/>
              <a:sym typeface="Arial"/>
            </a:endParaRPr>
          </a:p>
        </p:txBody>
      </p:sp>
      <p:pic>
        <p:nvPicPr>
          <p:cNvPr id="184" name="Google Shape;184;p18"/>
          <p:cNvPicPr preferRelativeResize="0"/>
          <p:nvPr/>
        </p:nvPicPr>
        <p:blipFill rotWithShape="1">
          <a:blip r:embed="rId5">
            <a:alphaModFix/>
          </a:blip>
          <a:srcRect b="0" l="0" r="0" t="0"/>
          <a:stretch/>
        </p:blipFill>
        <p:spPr>
          <a:xfrm>
            <a:off x="152400" y="3450030"/>
            <a:ext cx="8839199" cy="10806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88" name="Shape 188"/>
        <p:cNvGrpSpPr/>
        <p:nvPr/>
      </p:nvGrpSpPr>
      <p:grpSpPr>
        <a:xfrm>
          <a:off x="0" y="0"/>
          <a:ext cx="0" cy="0"/>
          <a:chOff x="0" y="0"/>
          <a:chExt cx="0" cy="0"/>
        </a:xfrm>
      </p:grpSpPr>
      <p:pic>
        <p:nvPicPr>
          <p:cNvPr id="189" name="Google Shape;189;p19"/>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190" name="Google Shape;190;p19"/>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191" name="Google Shape;191;p19"/>
          <p:cNvSpPr txBox="1"/>
          <p:nvPr/>
        </p:nvSpPr>
        <p:spPr>
          <a:xfrm>
            <a:off x="550675" y="1453275"/>
            <a:ext cx="8124000" cy="3170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2000"/>
              <a:buFont typeface="Arial"/>
              <a:buNone/>
            </a:pPr>
            <a:r>
              <a:rPr b="0" i="0" lang="en" sz="2000" u="none" cap="none" strike="noStrike">
                <a:solidFill>
                  <a:schemeClr val="dk1"/>
                </a:solidFill>
                <a:latin typeface="Arial"/>
                <a:ea typeface="Arial"/>
                <a:cs typeface="Arial"/>
                <a:sym typeface="Arial"/>
              </a:rPr>
              <a:t>Ahora nuevamente en el paquete 'com.example.demo' procedemos a crear la carpeta 'controller' como en el proyecto anterior.</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2000"/>
              <a:buFont typeface="Arial"/>
              <a:buNone/>
            </a:pPr>
            <a:r>
              <a:rPr b="0" i="0" lang="en" sz="2000" u="none" cap="none" strike="noStrike">
                <a:solidFill>
                  <a:schemeClr val="dk1"/>
                </a:solidFill>
                <a:latin typeface="Arial"/>
                <a:ea typeface="Arial"/>
                <a:cs typeface="Arial"/>
                <a:sym typeface="Arial"/>
              </a:rPr>
              <a:t>Y en el diálogo procedemos a indicar el nombre 'controller'</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2000"/>
              <a:buFont typeface="Arial"/>
              <a:buNone/>
            </a:pPr>
            <a:r>
              <a:rPr b="0" i="0" lang="en" sz="2000" u="none" cap="none" strike="noStrike">
                <a:solidFill>
                  <a:schemeClr val="dk1"/>
                </a:solidFill>
                <a:latin typeface="Arial"/>
                <a:ea typeface="Arial"/>
                <a:cs typeface="Arial"/>
                <a:sym typeface="Arial"/>
              </a:rPr>
              <a:t>En la carpeta controller procedemos a crear la clase ChisteController.</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2000"/>
              <a:buFont typeface="Arial"/>
              <a:buNone/>
            </a:pPr>
            <a:r>
              <a:rPr b="0" i="0" lang="en" sz="2000" u="none" cap="none" strike="noStrike">
                <a:solidFill>
                  <a:schemeClr val="dk1"/>
                </a:solidFill>
                <a:latin typeface="Arial"/>
                <a:ea typeface="Arial"/>
                <a:cs typeface="Arial"/>
                <a:sym typeface="Arial"/>
              </a:rPr>
              <a:t>El código de la clase ChisteController es diferente al proyecto, ya que vamos a retornar archivos JSON en lugar de páginas dinámicas:</a:t>
            </a:r>
            <a:endParaRPr b="0" i="0" sz="20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120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95" name="Shape 195"/>
        <p:cNvGrpSpPr/>
        <p:nvPr/>
      </p:nvGrpSpPr>
      <p:grpSpPr>
        <a:xfrm>
          <a:off x="0" y="0"/>
          <a:ext cx="0" cy="0"/>
          <a:chOff x="0" y="0"/>
          <a:chExt cx="0" cy="0"/>
        </a:xfrm>
      </p:grpSpPr>
      <p:pic>
        <p:nvPicPr>
          <p:cNvPr id="196" name="Google Shape;196;p20"/>
          <p:cNvPicPr preferRelativeResize="0"/>
          <p:nvPr/>
        </p:nvPicPr>
        <p:blipFill rotWithShape="1">
          <a:blip r:embed="rId3">
            <a:alphaModFix/>
          </a:blip>
          <a:srcRect b="0" l="0" r="0" t="0"/>
          <a:stretch/>
        </p:blipFill>
        <p:spPr>
          <a:xfrm>
            <a:off x="1498200" y="367550"/>
            <a:ext cx="8876176" cy="49605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200" name="Shape 200"/>
        <p:cNvGrpSpPr/>
        <p:nvPr/>
      </p:nvGrpSpPr>
      <p:grpSpPr>
        <a:xfrm>
          <a:off x="0" y="0"/>
          <a:ext cx="0" cy="0"/>
          <a:chOff x="0" y="0"/>
          <a:chExt cx="0" cy="0"/>
        </a:xfrm>
      </p:grpSpPr>
      <p:pic>
        <p:nvPicPr>
          <p:cNvPr id="201" name="Google Shape;201;p21"/>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202" name="Google Shape;202;p21"/>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203" name="Google Shape;203;p21"/>
          <p:cNvSpPr txBox="1"/>
          <p:nvPr/>
        </p:nvSpPr>
        <p:spPr>
          <a:xfrm>
            <a:off x="550675" y="1453275"/>
            <a:ext cx="8124000" cy="38664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0"/>
              </a:spcAft>
              <a:buClr>
                <a:srgbClr val="000000"/>
              </a:buClr>
              <a:buSzPts val="1900"/>
              <a:buFont typeface="Arial"/>
              <a:buNone/>
            </a:pPr>
            <a:r>
              <a:rPr b="0" i="0" lang="en" sz="1900" u="none" cap="none" strike="noStrike">
                <a:solidFill>
                  <a:schemeClr val="dk1"/>
                </a:solidFill>
                <a:latin typeface="Arial"/>
                <a:ea typeface="Arial"/>
                <a:cs typeface="Arial"/>
                <a:sym typeface="Arial"/>
              </a:rPr>
              <a:t>Un cambio fundamental es que disponemos la anotación @RestController en lugar de @Controller.</a:t>
            </a:r>
            <a:endParaRPr b="0" i="0" sz="19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rgbClr val="000000"/>
              </a:buClr>
              <a:buSzPts val="1900"/>
              <a:buFont typeface="Arial"/>
              <a:buNone/>
            </a:pPr>
            <a:r>
              <a:rPr b="0" i="0" lang="en" sz="1900" u="none" cap="none" strike="noStrike">
                <a:solidFill>
                  <a:schemeClr val="dk1"/>
                </a:solidFill>
                <a:latin typeface="Arial"/>
                <a:ea typeface="Arial"/>
                <a:cs typeface="Arial"/>
                <a:sym typeface="Arial"/>
              </a:rPr>
              <a:t>La anotación @RestController se utiliza para crear controladores en Spring Boot que devuelvan datos serializados en JSON por defecto. Sin necesidad de usar una vista para renderizar los datos en la respuesta (no disponemos archivos HTML en la carpeta template). Esto es útil cuando se construyen servicios web RESTful donde la salida principal es el contenido de datos.</a:t>
            </a:r>
            <a:endParaRPr b="0" i="0" sz="19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120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207" name="Shape 207"/>
        <p:cNvGrpSpPr/>
        <p:nvPr/>
      </p:nvGrpSpPr>
      <p:grpSpPr>
        <a:xfrm>
          <a:off x="0" y="0"/>
          <a:ext cx="0" cy="0"/>
          <a:chOff x="0" y="0"/>
          <a:chExt cx="0" cy="0"/>
        </a:xfrm>
      </p:grpSpPr>
      <p:sp>
        <p:nvSpPr>
          <p:cNvPr id="208" name="Google Shape;208;p22"/>
          <p:cNvSpPr txBox="1"/>
          <p:nvPr>
            <p:ph type="title"/>
          </p:nvPr>
        </p:nvSpPr>
        <p:spPr>
          <a:xfrm>
            <a:off x="2071775" y="1077000"/>
            <a:ext cx="4984800" cy="859500"/>
          </a:xfrm>
          <a:prstGeom prst="rect">
            <a:avLst/>
          </a:prstGeom>
          <a:noFill/>
          <a:ln>
            <a:noFill/>
          </a:ln>
        </p:spPr>
        <p:txBody>
          <a:bodyPr anchorCtr="0" anchor="t" bIns="91425" lIns="91425" spcFirstLastPara="1" rIns="91425" wrap="square" tIns="91425">
            <a:normAutofit fontScale="90000"/>
          </a:bodyPr>
          <a:lstStyle/>
          <a:p>
            <a:pPr indent="0" lvl="0" marL="0" rtl="0" algn="just">
              <a:lnSpc>
                <a:spcPct val="100000"/>
              </a:lnSpc>
              <a:spcBef>
                <a:spcPts val="0"/>
              </a:spcBef>
              <a:spcAft>
                <a:spcPts val="0"/>
              </a:spcAft>
              <a:buSzPct val="151515"/>
              <a:buNone/>
            </a:pPr>
            <a:r>
              <a:rPr lang="en" sz="2200"/>
              <a:t>Ahora cada una de las URL retornan la estructura de datos en formato JSON (el framework Spring Boot se encarga de la serialización):</a:t>
            </a:r>
            <a:endParaRPr sz="2200"/>
          </a:p>
        </p:txBody>
      </p:sp>
      <p:pic>
        <p:nvPicPr>
          <p:cNvPr id="209" name="Google Shape;209;p22"/>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210" name="Google Shape;210;p22"/>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pic>
        <p:nvPicPr>
          <p:cNvPr id="211" name="Google Shape;211;p22"/>
          <p:cNvPicPr preferRelativeResize="0"/>
          <p:nvPr/>
        </p:nvPicPr>
        <p:blipFill rotWithShape="1">
          <a:blip r:embed="rId5">
            <a:alphaModFix/>
          </a:blip>
          <a:srcRect b="0" l="0" r="0" t="0"/>
          <a:stretch/>
        </p:blipFill>
        <p:spPr>
          <a:xfrm>
            <a:off x="152400" y="2088900"/>
            <a:ext cx="8839199" cy="2062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215" name="Shape 215"/>
        <p:cNvGrpSpPr/>
        <p:nvPr/>
      </p:nvGrpSpPr>
      <p:grpSpPr>
        <a:xfrm>
          <a:off x="0" y="0"/>
          <a:ext cx="0" cy="0"/>
          <a:chOff x="0" y="0"/>
          <a:chExt cx="0" cy="0"/>
        </a:xfrm>
      </p:grpSpPr>
      <p:pic>
        <p:nvPicPr>
          <p:cNvPr id="216" name="Google Shape;216;p23"/>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217" name="Google Shape;217;p23"/>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218" name="Google Shape;218;p23"/>
          <p:cNvSpPr txBox="1"/>
          <p:nvPr>
            <p:ph type="title"/>
          </p:nvPr>
        </p:nvSpPr>
        <p:spPr>
          <a:xfrm>
            <a:off x="414900" y="1319775"/>
            <a:ext cx="4323900" cy="1357800"/>
          </a:xfrm>
          <a:prstGeom prst="rect">
            <a:avLst/>
          </a:prstGeom>
          <a:noFill/>
          <a:ln>
            <a:noFill/>
          </a:ln>
        </p:spPr>
        <p:txBody>
          <a:bodyPr anchorCtr="0" anchor="t" bIns="91425" lIns="91425" spcFirstLastPara="1" rIns="91425" wrap="square" tIns="91425">
            <a:normAutofit fontScale="90000"/>
          </a:bodyPr>
          <a:lstStyle/>
          <a:p>
            <a:pPr indent="0" lvl="0" marL="0" rtl="0" algn="just">
              <a:lnSpc>
                <a:spcPct val="100000"/>
              </a:lnSpc>
              <a:spcBef>
                <a:spcPts val="0"/>
              </a:spcBef>
              <a:spcAft>
                <a:spcPts val="0"/>
              </a:spcAft>
              <a:buSzPct val="111111"/>
              <a:buNone/>
            </a:pPr>
            <a:r>
              <a:rPr lang="en"/>
              <a:t>El método 'chisteAzar' retorna un objeto de tipo Chiste y el método 'chisteTodos' retorna un objeto de tipo List con elementos de tipo Chiste (no retornamos tipo de dato String como en el ejemplo anterior)</a:t>
            </a:r>
            <a:endParaRPr/>
          </a:p>
        </p:txBody>
      </p:sp>
      <p:pic>
        <p:nvPicPr>
          <p:cNvPr id="219" name="Google Shape;219;p23"/>
          <p:cNvPicPr preferRelativeResize="0"/>
          <p:nvPr/>
        </p:nvPicPr>
        <p:blipFill rotWithShape="1">
          <a:blip r:embed="rId5">
            <a:alphaModFix/>
          </a:blip>
          <a:srcRect b="0" l="0" r="0" t="0"/>
          <a:stretch/>
        </p:blipFill>
        <p:spPr>
          <a:xfrm>
            <a:off x="5257150" y="695275"/>
            <a:ext cx="2679350" cy="4295826"/>
          </a:xfrm>
          <a:prstGeom prst="rect">
            <a:avLst/>
          </a:prstGeom>
          <a:noFill/>
          <a:ln>
            <a:noFill/>
          </a:ln>
        </p:spPr>
      </p:pic>
      <p:sp>
        <p:nvSpPr>
          <p:cNvPr id="220" name="Google Shape;220;p23"/>
          <p:cNvSpPr txBox="1"/>
          <p:nvPr/>
        </p:nvSpPr>
        <p:spPr>
          <a:xfrm>
            <a:off x="5096825" y="172800"/>
            <a:ext cx="30000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400"/>
              </a:spcAft>
              <a:buClr>
                <a:srgbClr val="000000"/>
              </a:buClr>
              <a:buSzPts val="1300"/>
              <a:buFont typeface="Arial"/>
              <a:buNone/>
            </a:pPr>
            <a:r>
              <a:rPr b="1" i="0" lang="en" sz="1300" u="none" cap="none" strike="noStrike">
                <a:solidFill>
                  <a:schemeClr val="dk1"/>
                </a:solidFill>
                <a:latin typeface="Arial"/>
                <a:ea typeface="Arial"/>
                <a:cs typeface="Arial"/>
                <a:sym typeface="Arial"/>
              </a:rPr>
              <a:t>Carpetas y archivos del proyecto.</a:t>
            </a:r>
            <a:endParaRPr b="1" i="0" sz="1300" u="none" cap="none" strike="noStrik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224" name="Shape 224"/>
        <p:cNvGrpSpPr/>
        <p:nvPr/>
      </p:nvGrpSpPr>
      <p:grpSpPr>
        <a:xfrm>
          <a:off x="0" y="0"/>
          <a:ext cx="0" cy="0"/>
          <a:chOff x="0" y="0"/>
          <a:chExt cx="0" cy="0"/>
        </a:xfrm>
      </p:grpSpPr>
      <p:pic>
        <p:nvPicPr>
          <p:cNvPr id="225" name="Google Shape;225;p24"/>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226" name="Google Shape;226;p24"/>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227" name="Google Shape;227;p24"/>
          <p:cNvSpPr txBox="1"/>
          <p:nvPr/>
        </p:nvSpPr>
        <p:spPr>
          <a:xfrm>
            <a:off x="355800" y="1413250"/>
            <a:ext cx="8601600" cy="22134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0"/>
              </a:spcAft>
              <a:buClr>
                <a:srgbClr val="000000"/>
              </a:buClr>
              <a:buSzPts val="2300"/>
              <a:buFont typeface="Arial"/>
              <a:buNone/>
            </a:pPr>
            <a:r>
              <a:rPr b="0" i="0" lang="en" sz="2300" u="none" cap="none" strike="noStrike">
                <a:solidFill>
                  <a:schemeClr val="dk1"/>
                </a:solidFill>
                <a:latin typeface="Arial"/>
                <a:ea typeface="Arial"/>
                <a:cs typeface="Arial"/>
                <a:sym typeface="Arial"/>
              </a:rPr>
              <a:t>Controlar que hayamos creado los paquetes y archivos respectivos. Recordemos que cada proyecto que desarrollemos tendrá una estructura similar e iremos agregando otras secciones.</a:t>
            </a:r>
            <a:endParaRPr b="0" i="0" sz="23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120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231" name="Shape 231"/>
        <p:cNvGrpSpPr/>
        <p:nvPr/>
      </p:nvGrpSpPr>
      <p:grpSpPr>
        <a:xfrm>
          <a:off x="0" y="0"/>
          <a:ext cx="0" cy="0"/>
          <a:chOff x="0" y="0"/>
          <a:chExt cx="0" cy="0"/>
        </a:xfrm>
      </p:grpSpPr>
      <p:sp>
        <p:nvSpPr>
          <p:cNvPr id="232" name="Google Shape;232;p25"/>
          <p:cNvSpPr txBox="1"/>
          <p:nvPr/>
        </p:nvSpPr>
        <p:spPr>
          <a:xfrm>
            <a:off x="550675" y="1453275"/>
            <a:ext cx="8124000" cy="4311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120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233" name="Google Shape;233;p25"/>
          <p:cNvSpPr txBox="1"/>
          <p:nvPr/>
        </p:nvSpPr>
        <p:spPr>
          <a:xfrm>
            <a:off x="920425" y="746075"/>
            <a:ext cx="6213000" cy="12021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0"/>
              </a:spcAft>
              <a:buClr>
                <a:srgbClr val="000000"/>
              </a:buClr>
              <a:buSzPts val="1700"/>
              <a:buFont typeface="Arial"/>
              <a:buNone/>
            </a:pPr>
            <a:r>
              <a:rPr b="0" i="0" lang="en" sz="1700" u="none" cap="none" strike="noStrike">
                <a:solidFill>
                  <a:schemeClr val="dk1"/>
                </a:solidFill>
                <a:latin typeface="Arial"/>
                <a:ea typeface="Arial"/>
                <a:cs typeface="Arial"/>
                <a:sym typeface="Arial"/>
              </a:rPr>
              <a:t>Podemos ingresar a las 2 URL y comprobar que al navegador llegan archivos JSON (no retorna HTML)</a:t>
            </a:r>
            <a:endParaRPr b="0" i="0" sz="17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1200"/>
              </a:spcAft>
              <a:buClr>
                <a:srgbClr val="000000"/>
              </a:buClr>
              <a:buSzPts val="1700"/>
              <a:buFont typeface="Arial"/>
              <a:buNone/>
            </a:pPr>
            <a:r>
              <a:rPr b="0" i="0" lang="en" sz="1700" u="none" cap="none" strike="noStrike">
                <a:solidFill>
                  <a:schemeClr val="dk1"/>
                </a:solidFill>
                <a:latin typeface="Arial"/>
                <a:ea typeface="Arial"/>
                <a:cs typeface="Arial"/>
                <a:sym typeface="Arial"/>
              </a:rPr>
              <a:t>La ruta: http://localhost:8080/chisteazar:</a:t>
            </a:r>
            <a:endParaRPr b="0" i="0" sz="1500" u="none" cap="none" strike="noStrike">
              <a:solidFill>
                <a:srgbClr val="000000"/>
              </a:solidFill>
              <a:latin typeface="Arial"/>
              <a:ea typeface="Arial"/>
              <a:cs typeface="Arial"/>
              <a:sym typeface="Arial"/>
            </a:endParaRPr>
          </a:p>
        </p:txBody>
      </p:sp>
      <p:pic>
        <p:nvPicPr>
          <p:cNvPr id="234" name="Google Shape;234;p25"/>
          <p:cNvPicPr preferRelativeResize="0"/>
          <p:nvPr/>
        </p:nvPicPr>
        <p:blipFill rotWithShape="1">
          <a:blip r:embed="rId3">
            <a:alphaModFix/>
          </a:blip>
          <a:srcRect b="0" l="0" r="0" t="0"/>
          <a:stretch/>
        </p:blipFill>
        <p:spPr>
          <a:xfrm>
            <a:off x="1032250" y="1996175"/>
            <a:ext cx="5428829" cy="2954325"/>
          </a:xfrm>
          <a:prstGeom prst="rect">
            <a:avLst/>
          </a:prstGeom>
          <a:noFill/>
          <a:ln>
            <a:noFill/>
          </a:ln>
        </p:spPr>
      </p:pic>
      <p:pic>
        <p:nvPicPr>
          <p:cNvPr id="235" name="Google Shape;235;p25"/>
          <p:cNvPicPr preferRelativeResize="0"/>
          <p:nvPr/>
        </p:nvPicPr>
        <p:blipFill rotWithShape="1">
          <a:blip r:embed="rId4">
            <a:alphaModFix/>
          </a:blip>
          <a:srcRect b="0" l="0" r="0" t="0"/>
          <a:stretch/>
        </p:blipFill>
        <p:spPr>
          <a:xfrm>
            <a:off x="140350" y="165125"/>
            <a:ext cx="1671075" cy="792600"/>
          </a:xfrm>
          <a:prstGeom prst="rect">
            <a:avLst/>
          </a:prstGeom>
          <a:noFill/>
          <a:ln>
            <a:noFill/>
          </a:ln>
        </p:spPr>
      </p:pic>
      <p:pic>
        <p:nvPicPr>
          <p:cNvPr id="236" name="Google Shape;236;p25"/>
          <p:cNvPicPr preferRelativeResize="0"/>
          <p:nvPr/>
        </p:nvPicPr>
        <p:blipFill rotWithShape="1">
          <a:blip r:embed="rId5">
            <a:alphaModFix/>
          </a:blip>
          <a:srcRect b="0" l="0" r="0" t="0"/>
          <a:stretch/>
        </p:blipFill>
        <p:spPr>
          <a:xfrm>
            <a:off x="7859601" y="50826"/>
            <a:ext cx="1209350" cy="12093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240" name="Shape 240"/>
        <p:cNvGrpSpPr/>
        <p:nvPr/>
      </p:nvGrpSpPr>
      <p:grpSpPr>
        <a:xfrm>
          <a:off x="0" y="0"/>
          <a:ext cx="0" cy="0"/>
          <a:chOff x="0" y="0"/>
          <a:chExt cx="0" cy="0"/>
        </a:xfrm>
      </p:grpSpPr>
      <p:sp>
        <p:nvSpPr>
          <p:cNvPr id="241" name="Google Shape;241;p26"/>
          <p:cNvSpPr txBox="1"/>
          <p:nvPr/>
        </p:nvSpPr>
        <p:spPr>
          <a:xfrm>
            <a:off x="550675" y="1453275"/>
            <a:ext cx="8124000" cy="4311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120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242" name="Google Shape;242;p26"/>
          <p:cNvSpPr txBox="1"/>
          <p:nvPr/>
        </p:nvSpPr>
        <p:spPr>
          <a:xfrm>
            <a:off x="920425" y="957725"/>
            <a:ext cx="6213000" cy="747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1200"/>
              </a:spcAft>
              <a:buClr>
                <a:srgbClr val="000000"/>
              </a:buClr>
              <a:buSzPts val="1700"/>
              <a:buFont typeface="Arial"/>
              <a:buNone/>
            </a:pPr>
            <a:r>
              <a:rPr b="0" i="0" lang="en" sz="1700" u="none" cap="none" strike="noStrike">
                <a:solidFill>
                  <a:schemeClr val="dk1"/>
                </a:solidFill>
                <a:latin typeface="Arial"/>
                <a:ea typeface="Arial"/>
                <a:cs typeface="Arial"/>
                <a:sym typeface="Arial"/>
              </a:rPr>
              <a:t>La segunda ruta retorna todos los chistes (un arreglo con todos los chistes):</a:t>
            </a:r>
            <a:endParaRPr b="0" i="0" sz="1500" u="none" cap="none" strike="noStrike">
              <a:solidFill>
                <a:srgbClr val="000000"/>
              </a:solidFill>
              <a:latin typeface="Arial"/>
              <a:ea typeface="Arial"/>
              <a:cs typeface="Arial"/>
              <a:sym typeface="Arial"/>
            </a:endParaRPr>
          </a:p>
        </p:txBody>
      </p:sp>
      <p:pic>
        <p:nvPicPr>
          <p:cNvPr id="243" name="Google Shape;243;p26"/>
          <p:cNvPicPr preferRelativeResize="0"/>
          <p:nvPr/>
        </p:nvPicPr>
        <p:blipFill rotWithShape="1">
          <a:blip r:embed="rId3">
            <a:alphaModFix/>
          </a:blip>
          <a:srcRect b="0" l="0" r="0" t="0"/>
          <a:stretch/>
        </p:blipFill>
        <p:spPr>
          <a:xfrm>
            <a:off x="140350" y="165125"/>
            <a:ext cx="1671075" cy="792600"/>
          </a:xfrm>
          <a:prstGeom prst="rect">
            <a:avLst/>
          </a:prstGeom>
          <a:noFill/>
          <a:ln>
            <a:noFill/>
          </a:ln>
        </p:spPr>
      </p:pic>
      <p:pic>
        <p:nvPicPr>
          <p:cNvPr id="244" name="Google Shape;244;p26"/>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pic>
        <p:nvPicPr>
          <p:cNvPr id="245" name="Google Shape;245;p26"/>
          <p:cNvPicPr preferRelativeResize="0"/>
          <p:nvPr/>
        </p:nvPicPr>
        <p:blipFill rotWithShape="1">
          <a:blip r:embed="rId5">
            <a:alphaModFix/>
          </a:blip>
          <a:srcRect b="0" l="0" r="0" t="0"/>
          <a:stretch/>
        </p:blipFill>
        <p:spPr>
          <a:xfrm>
            <a:off x="998200" y="1884375"/>
            <a:ext cx="6007525" cy="29543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249" name="Shape 249"/>
        <p:cNvGrpSpPr/>
        <p:nvPr/>
      </p:nvGrpSpPr>
      <p:grpSpPr>
        <a:xfrm>
          <a:off x="0" y="0"/>
          <a:ext cx="0" cy="0"/>
          <a:chOff x="0" y="0"/>
          <a:chExt cx="0" cy="0"/>
        </a:xfrm>
      </p:grpSpPr>
      <p:pic>
        <p:nvPicPr>
          <p:cNvPr id="250" name="Google Shape;250;p27"/>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251" name="Google Shape;251;p27"/>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252" name="Google Shape;252;p27"/>
          <p:cNvSpPr txBox="1"/>
          <p:nvPr>
            <p:ph type="title"/>
          </p:nvPr>
        </p:nvSpPr>
        <p:spPr>
          <a:xfrm>
            <a:off x="428975" y="1260150"/>
            <a:ext cx="7583400" cy="34605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800"/>
              </a:spcBef>
              <a:spcAft>
                <a:spcPts val="0"/>
              </a:spcAft>
              <a:buSzPts val="3000"/>
              <a:buNone/>
            </a:pPr>
            <a:r>
              <a:rPr b="1" lang="en" sz="2100">
                <a:latin typeface="Arial"/>
                <a:ea typeface="Arial"/>
                <a:cs typeface="Arial"/>
                <a:sym typeface="Arial"/>
              </a:rPr>
              <a:t>Aplicación Postman</a:t>
            </a:r>
            <a:endParaRPr b="1" sz="2100">
              <a:latin typeface="Arial"/>
              <a:ea typeface="Arial"/>
              <a:cs typeface="Arial"/>
              <a:sym typeface="Arial"/>
            </a:endParaRPr>
          </a:p>
          <a:p>
            <a:pPr indent="0" lvl="0" marL="0" rtl="0" algn="just">
              <a:lnSpc>
                <a:spcPct val="115000"/>
              </a:lnSpc>
              <a:spcBef>
                <a:spcPts val="1200"/>
              </a:spcBef>
              <a:spcAft>
                <a:spcPts val="0"/>
              </a:spcAft>
              <a:buSzPts val="3000"/>
              <a:buNone/>
            </a:pPr>
            <a:r>
              <a:rPr lang="en" sz="1500">
                <a:latin typeface="Arial"/>
                <a:ea typeface="Arial"/>
                <a:cs typeface="Arial"/>
                <a:sym typeface="Arial"/>
              </a:rPr>
              <a:t>Para probar las APIs que desarrollemos, no es cómodo hacer las peticiones desde un navegador, sobretodo cuando tengamos que hacer peticiones POST, PUT, DELETE. Para solventar dicho problema se existen aplicaciones orientadas para probar APis.</a:t>
            </a:r>
            <a:endParaRPr sz="1500">
              <a:latin typeface="Arial"/>
              <a:ea typeface="Arial"/>
              <a:cs typeface="Arial"/>
              <a:sym typeface="Arial"/>
            </a:endParaRPr>
          </a:p>
          <a:p>
            <a:pPr indent="0" lvl="0" marL="0" rtl="0" algn="just">
              <a:lnSpc>
                <a:spcPct val="115000"/>
              </a:lnSpc>
              <a:spcBef>
                <a:spcPts val="1200"/>
              </a:spcBef>
              <a:spcAft>
                <a:spcPts val="1200"/>
              </a:spcAft>
              <a:buSzPts val="3000"/>
              <a:buNone/>
            </a:pPr>
            <a:r>
              <a:rPr lang="en" sz="1500">
                <a:latin typeface="Arial"/>
                <a:ea typeface="Arial"/>
                <a:cs typeface="Arial"/>
                <a:sym typeface="Arial"/>
              </a:rPr>
              <a:t>Postman es una herramienta popular utilizada por desarrolladores para probar, desarrollar y documentar APIs. Es una aplicación que proporciona una interfaz gráfica de usuario para enviar solicitudes HTTP a servidores web y recibir respuestas. Postman simplifica el proceso de probar APIs al ofrecer una variedad de características útiles, como la organización de solicitudes en colecciones, la capacidad de definir variables de entorno y globales, la automatización de pruebas mediante scripts en JavaScript, la generación de documentación de APIs, entre otras.</a:t>
            </a:r>
            <a:endParaRPr sz="1500">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256" name="Shape 256"/>
        <p:cNvGrpSpPr/>
        <p:nvPr/>
      </p:nvGrpSpPr>
      <p:grpSpPr>
        <a:xfrm>
          <a:off x="0" y="0"/>
          <a:ext cx="0" cy="0"/>
          <a:chOff x="0" y="0"/>
          <a:chExt cx="0" cy="0"/>
        </a:xfrm>
      </p:grpSpPr>
      <p:pic>
        <p:nvPicPr>
          <p:cNvPr id="257" name="Google Shape;257;p28"/>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258" name="Google Shape;258;p28"/>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259" name="Google Shape;259;p28"/>
          <p:cNvSpPr txBox="1"/>
          <p:nvPr>
            <p:ph type="title"/>
          </p:nvPr>
        </p:nvSpPr>
        <p:spPr>
          <a:xfrm>
            <a:off x="1636550" y="791175"/>
            <a:ext cx="6109200" cy="1123800"/>
          </a:xfrm>
          <a:prstGeom prst="rect">
            <a:avLst/>
          </a:prstGeom>
          <a:noFill/>
          <a:ln>
            <a:noFill/>
          </a:ln>
        </p:spPr>
        <p:txBody>
          <a:bodyPr anchorCtr="0" anchor="t" bIns="91425" lIns="91425" spcFirstLastPara="1" rIns="91425" wrap="square" tIns="91425">
            <a:normAutofit fontScale="90000"/>
          </a:bodyPr>
          <a:lstStyle/>
          <a:p>
            <a:pPr indent="0" lvl="0" marL="0" rtl="0" algn="just">
              <a:lnSpc>
                <a:spcPct val="100000"/>
              </a:lnSpc>
              <a:spcBef>
                <a:spcPts val="0"/>
              </a:spcBef>
              <a:spcAft>
                <a:spcPts val="0"/>
              </a:spcAft>
              <a:buSzPct val="54299"/>
              <a:buNone/>
            </a:pPr>
            <a:r>
              <a:rPr lang="en" sz="1821">
                <a:latin typeface="Arial"/>
                <a:ea typeface="Arial"/>
                <a:cs typeface="Arial"/>
                <a:sym typeface="Arial"/>
              </a:rPr>
              <a:t>Puede descargar la aplicación desde su sitio oficial en forma gratuita:</a:t>
            </a:r>
            <a:endParaRPr sz="1821">
              <a:latin typeface="Arial"/>
              <a:ea typeface="Arial"/>
              <a:cs typeface="Arial"/>
              <a:sym typeface="Arial"/>
            </a:endParaRPr>
          </a:p>
          <a:p>
            <a:pPr indent="0" lvl="0" marL="0" rtl="0" algn="just">
              <a:lnSpc>
                <a:spcPct val="100000"/>
              </a:lnSpc>
              <a:spcBef>
                <a:spcPts val="0"/>
              </a:spcBef>
              <a:spcAft>
                <a:spcPts val="0"/>
              </a:spcAft>
              <a:buSzPct val="61874"/>
              <a:buNone/>
            </a:pPr>
            <a:r>
              <a:t/>
            </a:r>
            <a:endParaRPr sz="1600">
              <a:latin typeface="Arial"/>
              <a:ea typeface="Arial"/>
              <a:cs typeface="Arial"/>
              <a:sym typeface="Arial"/>
            </a:endParaRPr>
          </a:p>
          <a:p>
            <a:pPr indent="0" lvl="0" marL="0" rtl="0" algn="just">
              <a:lnSpc>
                <a:spcPct val="100000"/>
              </a:lnSpc>
              <a:spcBef>
                <a:spcPts val="0"/>
              </a:spcBef>
              <a:spcAft>
                <a:spcPts val="0"/>
              </a:spcAft>
              <a:buSzPct val="45927"/>
              <a:buNone/>
            </a:pPr>
            <a:r>
              <a:rPr lang="en" sz="2155">
                <a:latin typeface="Arial"/>
                <a:ea typeface="Arial"/>
                <a:cs typeface="Arial"/>
                <a:sym typeface="Arial"/>
              </a:rPr>
              <a:t>https://www.postman.com/downloads/</a:t>
            </a:r>
            <a:endParaRPr sz="2155">
              <a:latin typeface="Arial"/>
              <a:ea typeface="Arial"/>
              <a:cs typeface="Arial"/>
              <a:sym typeface="Arial"/>
            </a:endParaRPr>
          </a:p>
          <a:p>
            <a:pPr indent="0" lvl="0" marL="0" rtl="0" algn="just">
              <a:lnSpc>
                <a:spcPct val="100000"/>
              </a:lnSpc>
              <a:spcBef>
                <a:spcPts val="0"/>
              </a:spcBef>
              <a:spcAft>
                <a:spcPts val="0"/>
              </a:spcAft>
              <a:buSzPct val="61874"/>
              <a:buNone/>
            </a:pPr>
            <a:r>
              <a:t/>
            </a:r>
            <a:endParaRPr sz="1600">
              <a:latin typeface="Arial"/>
              <a:ea typeface="Arial"/>
              <a:cs typeface="Arial"/>
              <a:sym typeface="Arial"/>
            </a:endParaRPr>
          </a:p>
        </p:txBody>
      </p:sp>
      <p:sp>
        <p:nvSpPr>
          <p:cNvPr id="260" name="Google Shape;260;p28"/>
          <p:cNvSpPr txBox="1"/>
          <p:nvPr/>
        </p:nvSpPr>
        <p:spPr>
          <a:xfrm>
            <a:off x="1636550" y="2215975"/>
            <a:ext cx="6650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Una vez instalado puede proceder a efectuar las solicitudes, teniendo en cuenta que son peticiones GET:</a:t>
            </a:r>
            <a:endParaRPr b="0" i="0" sz="1400" u="none" cap="none" strike="noStrike">
              <a:solidFill>
                <a:schemeClr val="dk1"/>
              </a:solidFill>
              <a:latin typeface="Arial"/>
              <a:ea typeface="Arial"/>
              <a:cs typeface="Arial"/>
              <a:sym typeface="Arial"/>
            </a:endParaRPr>
          </a:p>
        </p:txBody>
      </p:sp>
      <p:pic>
        <p:nvPicPr>
          <p:cNvPr id="261" name="Google Shape;261;p28"/>
          <p:cNvPicPr preferRelativeResize="0"/>
          <p:nvPr/>
        </p:nvPicPr>
        <p:blipFill rotWithShape="1">
          <a:blip r:embed="rId5">
            <a:alphaModFix/>
          </a:blip>
          <a:srcRect b="0" l="0" r="0" t="0"/>
          <a:stretch/>
        </p:blipFill>
        <p:spPr>
          <a:xfrm>
            <a:off x="152400" y="3132575"/>
            <a:ext cx="8839201" cy="5603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265" name="Shape 265"/>
        <p:cNvGrpSpPr/>
        <p:nvPr/>
      </p:nvGrpSpPr>
      <p:grpSpPr>
        <a:xfrm>
          <a:off x="0" y="0"/>
          <a:ext cx="0" cy="0"/>
          <a:chOff x="0" y="0"/>
          <a:chExt cx="0" cy="0"/>
        </a:xfrm>
      </p:grpSpPr>
      <p:pic>
        <p:nvPicPr>
          <p:cNvPr id="266" name="Google Shape;266;p29"/>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267" name="Google Shape;267;p29"/>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pic>
        <p:nvPicPr>
          <p:cNvPr id="268" name="Google Shape;268;p29"/>
          <p:cNvPicPr preferRelativeResize="0"/>
          <p:nvPr/>
        </p:nvPicPr>
        <p:blipFill rotWithShape="1">
          <a:blip r:embed="rId5">
            <a:alphaModFix/>
          </a:blip>
          <a:srcRect b="0" l="0" r="0" t="0"/>
          <a:stretch/>
        </p:blipFill>
        <p:spPr>
          <a:xfrm>
            <a:off x="-819150" y="1260150"/>
            <a:ext cx="8398424" cy="37081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272" name="Shape 272"/>
        <p:cNvGrpSpPr/>
        <p:nvPr/>
      </p:nvGrpSpPr>
      <p:grpSpPr>
        <a:xfrm>
          <a:off x="0" y="0"/>
          <a:ext cx="0" cy="0"/>
          <a:chOff x="0" y="0"/>
          <a:chExt cx="0" cy="0"/>
        </a:xfrm>
      </p:grpSpPr>
      <p:pic>
        <p:nvPicPr>
          <p:cNvPr id="273" name="Google Shape;273;p30"/>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274" name="Google Shape;274;p30"/>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275" name="Google Shape;275;p30"/>
          <p:cNvSpPr txBox="1"/>
          <p:nvPr/>
        </p:nvSpPr>
        <p:spPr>
          <a:xfrm>
            <a:off x="1911975" y="1032225"/>
            <a:ext cx="5857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La segunda petición es la que retorna un arreglo:</a:t>
            </a:r>
            <a:endParaRPr b="0" i="0" sz="1400" u="none" cap="none" strike="noStrike">
              <a:solidFill>
                <a:schemeClr val="dk1"/>
              </a:solidFill>
              <a:latin typeface="Arial"/>
              <a:ea typeface="Arial"/>
              <a:cs typeface="Arial"/>
              <a:sym typeface="Arial"/>
            </a:endParaRPr>
          </a:p>
        </p:txBody>
      </p:sp>
      <p:pic>
        <p:nvPicPr>
          <p:cNvPr id="276" name="Google Shape;276;p30"/>
          <p:cNvPicPr preferRelativeResize="0"/>
          <p:nvPr/>
        </p:nvPicPr>
        <p:blipFill rotWithShape="1">
          <a:blip r:embed="rId5">
            <a:alphaModFix/>
          </a:blip>
          <a:srcRect b="0" l="0" r="0" t="0"/>
          <a:stretch/>
        </p:blipFill>
        <p:spPr>
          <a:xfrm>
            <a:off x="152400" y="1584825"/>
            <a:ext cx="8839197" cy="303058"/>
          </a:xfrm>
          <a:prstGeom prst="rect">
            <a:avLst/>
          </a:prstGeom>
          <a:noFill/>
          <a:ln>
            <a:noFill/>
          </a:ln>
        </p:spPr>
      </p:pic>
      <p:pic>
        <p:nvPicPr>
          <p:cNvPr id="277" name="Google Shape;277;p30"/>
          <p:cNvPicPr preferRelativeResize="0"/>
          <p:nvPr/>
        </p:nvPicPr>
        <p:blipFill rotWithShape="1">
          <a:blip r:embed="rId6">
            <a:alphaModFix/>
          </a:blip>
          <a:srcRect b="0" l="0" r="0" t="0"/>
          <a:stretch/>
        </p:blipFill>
        <p:spPr>
          <a:xfrm>
            <a:off x="271138" y="2040275"/>
            <a:ext cx="8601726" cy="2950824"/>
          </a:xfrm>
          <a:prstGeom prst="rect">
            <a:avLst/>
          </a:prstGeom>
          <a:noFill/>
          <a:ln>
            <a:noFill/>
          </a:ln>
        </p:spPr>
      </p:pic>
      <p:pic>
        <p:nvPicPr>
          <p:cNvPr id="278" name="Google Shape;278;p30"/>
          <p:cNvPicPr preferRelativeResize="0"/>
          <p:nvPr/>
        </p:nvPicPr>
        <p:blipFill rotWithShape="1">
          <a:blip r:embed="rId6">
            <a:alphaModFix/>
          </a:blip>
          <a:srcRect b="0" l="0" r="0" t="0"/>
          <a:stretch/>
        </p:blipFill>
        <p:spPr>
          <a:xfrm>
            <a:off x="423538" y="2192675"/>
            <a:ext cx="8601726" cy="295082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282" name="Shape 282"/>
        <p:cNvGrpSpPr/>
        <p:nvPr/>
      </p:nvGrpSpPr>
      <p:grpSpPr>
        <a:xfrm>
          <a:off x="0" y="0"/>
          <a:ext cx="0" cy="0"/>
          <a:chOff x="0" y="0"/>
          <a:chExt cx="0" cy="0"/>
        </a:xfrm>
      </p:grpSpPr>
      <p:pic>
        <p:nvPicPr>
          <p:cNvPr id="283" name="Google Shape;283;p31"/>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284" name="Google Shape;284;p31"/>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285" name="Google Shape;285;p31"/>
          <p:cNvSpPr txBox="1"/>
          <p:nvPr/>
        </p:nvSpPr>
        <p:spPr>
          <a:xfrm>
            <a:off x="1352900" y="1083050"/>
            <a:ext cx="58572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Tener en cuenta que nos va a ser de suma utilidad para otros métodos de HTTP:</a:t>
            </a:r>
            <a:endParaRPr b="0" i="0" sz="1400" u="none" cap="none" strike="noStrike">
              <a:solidFill>
                <a:schemeClr val="dk1"/>
              </a:solidFill>
              <a:latin typeface="Arial"/>
              <a:ea typeface="Arial"/>
              <a:cs typeface="Arial"/>
              <a:sym typeface="Arial"/>
            </a:endParaRPr>
          </a:p>
        </p:txBody>
      </p:sp>
      <p:pic>
        <p:nvPicPr>
          <p:cNvPr id="286" name="Google Shape;286;p31"/>
          <p:cNvPicPr preferRelativeResize="0"/>
          <p:nvPr/>
        </p:nvPicPr>
        <p:blipFill rotWithShape="1">
          <a:blip r:embed="rId5">
            <a:alphaModFix/>
          </a:blip>
          <a:srcRect b="0" l="0" r="0" t="0"/>
          <a:stretch/>
        </p:blipFill>
        <p:spPr>
          <a:xfrm>
            <a:off x="1585675" y="1800225"/>
            <a:ext cx="4021596" cy="314005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290" name="Shape 290"/>
        <p:cNvGrpSpPr/>
        <p:nvPr/>
      </p:nvGrpSpPr>
      <p:grpSpPr>
        <a:xfrm>
          <a:off x="0" y="0"/>
          <a:ext cx="0" cy="0"/>
          <a:chOff x="0" y="0"/>
          <a:chExt cx="0" cy="0"/>
        </a:xfrm>
      </p:grpSpPr>
      <p:pic>
        <p:nvPicPr>
          <p:cNvPr id="291" name="Google Shape;291;p32"/>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292" name="Google Shape;292;p32"/>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293" name="Google Shape;293;p32"/>
          <p:cNvSpPr txBox="1"/>
          <p:nvPr>
            <p:ph type="title"/>
          </p:nvPr>
        </p:nvSpPr>
        <p:spPr>
          <a:xfrm>
            <a:off x="2142900" y="630850"/>
            <a:ext cx="4858200" cy="1050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Sigue paso a paso y crea tu primer </a:t>
            </a:r>
            <a:endParaRPr/>
          </a:p>
          <a:p>
            <a:pPr indent="0" lvl="0" marL="0" rtl="0" algn="ctr">
              <a:lnSpc>
                <a:spcPct val="100000"/>
              </a:lnSpc>
              <a:spcBef>
                <a:spcPts val="0"/>
              </a:spcBef>
              <a:spcAft>
                <a:spcPts val="0"/>
              </a:spcAft>
              <a:buSzPct val="107526"/>
              <a:buNone/>
            </a:pPr>
            <a:r>
              <a:rPr lang="en" sz="3100">
                <a:latin typeface="Average"/>
                <a:ea typeface="Average"/>
                <a:cs typeface="Average"/>
                <a:sym typeface="Average"/>
              </a:rPr>
              <a:t>Aplicaciones API REST</a:t>
            </a:r>
            <a:endParaRPr/>
          </a:p>
        </p:txBody>
      </p:sp>
      <p:pic>
        <p:nvPicPr>
          <p:cNvPr id="294" name="Google Shape;294;p32"/>
          <p:cNvPicPr preferRelativeResize="0"/>
          <p:nvPr/>
        </p:nvPicPr>
        <p:blipFill rotWithShape="1">
          <a:blip r:embed="rId5">
            <a:alphaModFix/>
          </a:blip>
          <a:srcRect b="0" l="0" r="0" t="0"/>
          <a:stretch/>
        </p:blipFill>
        <p:spPr>
          <a:xfrm>
            <a:off x="3183650" y="1768700"/>
            <a:ext cx="2368475" cy="23684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