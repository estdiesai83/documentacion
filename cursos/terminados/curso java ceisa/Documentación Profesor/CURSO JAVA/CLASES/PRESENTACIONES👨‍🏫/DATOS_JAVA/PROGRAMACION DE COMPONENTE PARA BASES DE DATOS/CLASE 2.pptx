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Average"/>
      <p:regular r:id="rId28"/>
    </p:embeddedFont>
    <p:embeddedFont>
      <p:font typeface="Oswald"/>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1" roundtripDataSignature="AMtx7mgs8XinVYsApxoKO1EEewjdoHXI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verage-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Oswa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4"/>
          <p:cNvGrpSpPr/>
          <p:nvPr/>
        </p:nvGrpSpPr>
        <p:grpSpPr>
          <a:xfrm>
            <a:off x="4350279" y="2855377"/>
            <a:ext cx="443589" cy="105632"/>
            <a:chOff x="4137525" y="2915950"/>
            <a:chExt cx="869100" cy="207000"/>
          </a:xfrm>
        </p:grpSpPr>
        <p:sp>
          <p:nvSpPr>
            <p:cNvPr id="11" name="Google Shape;11;p2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4"/>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 name="Google Shape;15;p24"/>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2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6"/>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2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2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30"/>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8" name="Google Shape;38;p3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31"/>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3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31"/>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31"/>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3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5" name="Google Shape;45;p3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3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33"/>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33"/>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3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3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Average"/>
              <a:buChar char="●"/>
              <a:defRPr b="0" i="0" sz="1800" u="none" cap="none" strike="noStrike">
                <a:solidFill>
                  <a:schemeClr val="accent3"/>
                </a:solidFill>
                <a:latin typeface="Average"/>
                <a:ea typeface="Average"/>
                <a:cs typeface="Average"/>
                <a:sym typeface="Average"/>
              </a:defRPr>
            </a:lvl1pPr>
            <a:lvl2pPr indent="-317500" lvl="1" marL="914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2pPr>
            <a:lvl3pPr indent="-317500" lvl="2" marL="1371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3pPr>
            <a:lvl4pPr indent="-317500" lvl="3" marL="1828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4pPr>
            <a:lvl5pPr indent="-317500" lvl="4" marL="22860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5pPr>
            <a:lvl6pPr indent="-317500" lvl="5" marL="27432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6pPr>
            <a:lvl7pPr indent="-317500" lvl="6" marL="3200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7pPr>
            <a:lvl8pPr indent="-317500" lvl="7" marL="3657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8pPr>
            <a:lvl9pPr indent="-317500" lvl="8" marL="4114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9pPr>
          </a:lstStyle>
          <a:p/>
        </p:txBody>
      </p:sp>
      <p:sp>
        <p:nvSpPr>
          <p:cNvPr id="8" name="Google Shape;8;p2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58" name="Shape 58"/>
        <p:cNvGrpSpPr/>
        <p:nvPr/>
      </p:nvGrpSpPr>
      <p:grpSpPr>
        <a:xfrm>
          <a:off x="0" y="0"/>
          <a:ext cx="0" cy="0"/>
          <a:chOff x="0" y="0"/>
          <a:chExt cx="0" cy="0"/>
        </a:xfrm>
      </p:grpSpPr>
      <p:sp>
        <p:nvSpPr>
          <p:cNvPr id="59" name="Google Shape;59;p1"/>
          <p:cNvSpPr txBox="1"/>
          <p:nvPr>
            <p:ph type="ctrTitle"/>
          </p:nvPr>
        </p:nvSpPr>
        <p:spPr>
          <a:xfrm>
            <a:off x="466950" y="1732150"/>
            <a:ext cx="8210100" cy="1044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800"/>
              <a:buNone/>
            </a:pPr>
            <a:r>
              <a:rPr lang="en" sz="6400"/>
              <a:t>Spring Boot para Eclipse</a:t>
            </a:r>
            <a:endParaRPr sz="6400"/>
          </a:p>
        </p:txBody>
      </p:sp>
      <p:sp>
        <p:nvSpPr>
          <p:cNvPr id="60" name="Google Shape;60;p1"/>
          <p:cNvSpPr txBox="1"/>
          <p:nvPr>
            <p:ph idx="1" type="subTitle"/>
          </p:nvPr>
        </p:nvSpPr>
        <p:spPr>
          <a:xfrm>
            <a:off x="311700" y="380997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rPr lang="en" sz="3100">
                <a:solidFill>
                  <a:schemeClr val="dk1"/>
                </a:solidFill>
              </a:rPr>
              <a:t>MVC Y SERVICE</a:t>
            </a:r>
            <a:endParaRPr sz="3100">
              <a:solidFill>
                <a:schemeClr val="dk1"/>
              </a:solidFill>
            </a:endParaRPr>
          </a:p>
        </p:txBody>
      </p:sp>
      <p:pic>
        <p:nvPicPr>
          <p:cNvPr id="61" name="Google Shape;61;p1"/>
          <p:cNvPicPr preferRelativeResize="0"/>
          <p:nvPr/>
        </p:nvPicPr>
        <p:blipFill rotWithShape="1">
          <a:blip r:embed="rId3">
            <a:alphaModFix/>
          </a:blip>
          <a:srcRect b="0" l="0" r="0" t="0"/>
          <a:stretch/>
        </p:blipFill>
        <p:spPr>
          <a:xfrm>
            <a:off x="150500" y="337925"/>
            <a:ext cx="1849400" cy="792600"/>
          </a:xfrm>
          <a:prstGeom prst="rect">
            <a:avLst/>
          </a:prstGeom>
          <a:noFill/>
          <a:ln>
            <a:noFill/>
          </a:ln>
        </p:spPr>
      </p:pic>
      <p:pic>
        <p:nvPicPr>
          <p:cNvPr id="62" name="Google Shape;62;p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66" name="Shape 66"/>
        <p:cNvGrpSpPr/>
        <p:nvPr/>
      </p:nvGrpSpPr>
      <p:grpSpPr>
        <a:xfrm>
          <a:off x="0" y="0"/>
          <a:ext cx="0" cy="0"/>
          <a:chOff x="0" y="0"/>
          <a:chExt cx="0" cy="0"/>
        </a:xfrm>
      </p:grpSpPr>
      <p:sp>
        <p:nvSpPr>
          <p:cNvPr id="67" name="Google Shape;67;p2"/>
          <p:cNvSpPr txBox="1"/>
          <p:nvPr>
            <p:ph type="title"/>
          </p:nvPr>
        </p:nvSpPr>
        <p:spPr>
          <a:xfrm>
            <a:off x="719400" y="1762625"/>
            <a:ext cx="7705200" cy="24195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111111"/>
              <a:buNone/>
            </a:pPr>
            <a:r>
              <a:rPr lang="en"/>
              <a:t>El patrón MVC (Modelo-Vista-Controlador) no incluye explícitamente la capa de Servicios (Services). Sin embargo, en muchas implementaciones de MVC, especialmente en Spring Boot, se utiliza una capa de Servicios para manejar la lógica de negocio de la aplicación</a:t>
            </a:r>
            <a:endParaRPr/>
          </a:p>
        </p:txBody>
      </p:sp>
      <p:pic>
        <p:nvPicPr>
          <p:cNvPr id="68" name="Google Shape;68;p2"/>
          <p:cNvPicPr preferRelativeResize="0"/>
          <p:nvPr/>
        </p:nvPicPr>
        <p:blipFill rotWithShape="1">
          <a:blip r:embed="rId3">
            <a:alphaModFix/>
          </a:blip>
          <a:srcRect b="0" l="0" r="0" t="0"/>
          <a:stretch/>
        </p:blipFill>
        <p:spPr>
          <a:xfrm>
            <a:off x="150500" y="337925"/>
            <a:ext cx="1681225" cy="792600"/>
          </a:xfrm>
          <a:prstGeom prst="rect">
            <a:avLst/>
          </a:prstGeom>
          <a:noFill/>
          <a:ln>
            <a:noFill/>
          </a:ln>
        </p:spPr>
      </p:pic>
      <p:pic>
        <p:nvPicPr>
          <p:cNvPr id="69" name="Google Shape;69;p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73" name="Shape 73"/>
        <p:cNvGrpSpPr/>
        <p:nvPr/>
      </p:nvGrpSpPr>
      <p:grpSpPr>
        <a:xfrm>
          <a:off x="0" y="0"/>
          <a:ext cx="0" cy="0"/>
          <a:chOff x="0" y="0"/>
          <a:chExt cx="0" cy="0"/>
        </a:xfrm>
      </p:grpSpPr>
      <p:pic>
        <p:nvPicPr>
          <p:cNvPr id="74" name="Google Shape;74;p3"/>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75" name="Google Shape;75;p3"/>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76" name="Google Shape;76;p3"/>
          <p:cNvPicPr preferRelativeResize="0"/>
          <p:nvPr/>
        </p:nvPicPr>
        <p:blipFill rotWithShape="1">
          <a:blip r:embed="rId5">
            <a:alphaModFix/>
          </a:blip>
          <a:srcRect b="0" l="0" r="0" t="0"/>
          <a:stretch/>
        </p:blipFill>
        <p:spPr>
          <a:xfrm>
            <a:off x="152400" y="1412551"/>
            <a:ext cx="8839199" cy="343214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80" name="Shape 80"/>
        <p:cNvGrpSpPr/>
        <p:nvPr/>
      </p:nvGrpSpPr>
      <p:grpSpPr>
        <a:xfrm>
          <a:off x="0" y="0"/>
          <a:ext cx="0" cy="0"/>
          <a:chOff x="0" y="0"/>
          <a:chExt cx="0" cy="0"/>
        </a:xfrm>
      </p:grpSpPr>
      <p:pic>
        <p:nvPicPr>
          <p:cNvPr id="81" name="Google Shape;81;p4"/>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82" name="Google Shape;82;p4"/>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83" name="Google Shape;83;p4"/>
          <p:cNvSpPr txBox="1"/>
          <p:nvPr>
            <p:ph type="title"/>
          </p:nvPr>
        </p:nvSpPr>
        <p:spPr>
          <a:xfrm>
            <a:off x="191250" y="1075800"/>
            <a:ext cx="48582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Desde el menú de opciones seleccionamos File-&gt; New -&gt; Spring Starter Proyect:</a:t>
            </a:r>
            <a:endParaRPr/>
          </a:p>
        </p:txBody>
      </p:sp>
      <p:pic>
        <p:nvPicPr>
          <p:cNvPr id="84" name="Google Shape;84;p4"/>
          <p:cNvPicPr preferRelativeResize="0"/>
          <p:nvPr/>
        </p:nvPicPr>
        <p:blipFill rotWithShape="1">
          <a:blip r:embed="rId5">
            <a:alphaModFix/>
          </a:blip>
          <a:srcRect b="0" l="0" r="0" t="0"/>
          <a:stretch/>
        </p:blipFill>
        <p:spPr>
          <a:xfrm>
            <a:off x="5201850" y="1412550"/>
            <a:ext cx="3789751" cy="3389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88" name="Shape 88"/>
        <p:cNvGrpSpPr/>
        <p:nvPr/>
      </p:nvGrpSpPr>
      <p:grpSpPr>
        <a:xfrm>
          <a:off x="0" y="0"/>
          <a:ext cx="0" cy="0"/>
          <a:chOff x="0" y="0"/>
          <a:chExt cx="0" cy="0"/>
        </a:xfrm>
      </p:grpSpPr>
      <p:pic>
        <p:nvPicPr>
          <p:cNvPr id="89" name="Google Shape;89;p5"/>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90" name="Google Shape;90;p5"/>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91" name="Google Shape;91;p5"/>
          <p:cNvSpPr txBox="1"/>
          <p:nvPr>
            <p:ph type="title"/>
          </p:nvPr>
        </p:nvSpPr>
        <p:spPr>
          <a:xfrm>
            <a:off x="191250" y="1075800"/>
            <a:ext cx="48582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En el primer diálogo procedemos a definir el nombre de nuestro proyecto. Utilizaremos Maven como herramienta de gestión de proyecto.</a:t>
            </a:r>
            <a:endParaRPr/>
          </a:p>
        </p:txBody>
      </p:sp>
      <p:pic>
        <p:nvPicPr>
          <p:cNvPr id="92" name="Google Shape;92;p5"/>
          <p:cNvPicPr preferRelativeResize="0"/>
          <p:nvPr/>
        </p:nvPicPr>
        <p:blipFill rotWithShape="1">
          <a:blip r:embed="rId5">
            <a:alphaModFix/>
          </a:blip>
          <a:srcRect b="0" l="0" r="0" t="0"/>
          <a:stretch/>
        </p:blipFill>
        <p:spPr>
          <a:xfrm>
            <a:off x="5771075" y="1382050"/>
            <a:ext cx="3023700" cy="35785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96" name="Shape 96"/>
        <p:cNvGrpSpPr/>
        <p:nvPr/>
      </p:nvGrpSpPr>
      <p:grpSpPr>
        <a:xfrm>
          <a:off x="0" y="0"/>
          <a:ext cx="0" cy="0"/>
          <a:chOff x="0" y="0"/>
          <a:chExt cx="0" cy="0"/>
        </a:xfrm>
      </p:grpSpPr>
      <p:pic>
        <p:nvPicPr>
          <p:cNvPr id="97" name="Google Shape;97;p6"/>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98" name="Google Shape;98;p6"/>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99" name="Google Shape;99;p6"/>
          <p:cNvSpPr txBox="1"/>
          <p:nvPr>
            <p:ph type="title"/>
          </p:nvPr>
        </p:nvSpPr>
        <p:spPr>
          <a:xfrm>
            <a:off x="191250" y="1075800"/>
            <a:ext cx="48582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En el segundo diálogo seleccionamos las dependencias "Spring Web" y "Thymeleaf"</a:t>
            </a:r>
            <a:endParaRPr/>
          </a:p>
        </p:txBody>
      </p:sp>
      <p:pic>
        <p:nvPicPr>
          <p:cNvPr id="100" name="Google Shape;100;p6"/>
          <p:cNvPicPr preferRelativeResize="0"/>
          <p:nvPr/>
        </p:nvPicPr>
        <p:blipFill rotWithShape="1">
          <a:blip r:embed="rId5">
            <a:alphaModFix/>
          </a:blip>
          <a:srcRect b="0" l="0" r="0" t="0"/>
          <a:stretch/>
        </p:blipFill>
        <p:spPr>
          <a:xfrm>
            <a:off x="5440326" y="1432875"/>
            <a:ext cx="3004050" cy="3578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04" name="Shape 104"/>
        <p:cNvGrpSpPr/>
        <p:nvPr/>
      </p:nvGrpSpPr>
      <p:grpSpPr>
        <a:xfrm>
          <a:off x="0" y="0"/>
          <a:ext cx="0" cy="0"/>
          <a:chOff x="0" y="0"/>
          <a:chExt cx="0" cy="0"/>
        </a:xfrm>
      </p:grpSpPr>
      <p:pic>
        <p:nvPicPr>
          <p:cNvPr id="105" name="Google Shape;105;p7"/>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06" name="Google Shape;106;p7"/>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07" name="Google Shape;107;p7"/>
          <p:cNvSpPr txBox="1"/>
          <p:nvPr>
            <p:ph type="title"/>
          </p:nvPr>
        </p:nvSpPr>
        <p:spPr>
          <a:xfrm>
            <a:off x="191250" y="1345850"/>
            <a:ext cx="8491800" cy="32100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15000"/>
              </a:lnSpc>
              <a:spcBef>
                <a:spcPts val="1200"/>
              </a:spcBef>
              <a:spcAft>
                <a:spcPts val="0"/>
              </a:spcAft>
              <a:buSzPct val="111111"/>
              <a:buNone/>
            </a:pPr>
            <a:r>
              <a:rPr lang="en"/>
              <a:t>Ahora en el paquete 'com.example.demo' procedemos a crear la carpeta 'model' presionando el botón derecho del mouse y definiendo como su nombre 'model'.</a:t>
            </a:r>
            <a:endParaRPr/>
          </a:p>
          <a:p>
            <a:pPr indent="0" lvl="0" marL="0" rtl="0" algn="just">
              <a:lnSpc>
                <a:spcPct val="115000"/>
              </a:lnSpc>
              <a:spcBef>
                <a:spcPts val="1200"/>
              </a:spcBef>
              <a:spcAft>
                <a:spcPts val="0"/>
              </a:spcAft>
              <a:buSzPct val="111111"/>
              <a:buNone/>
            </a:pPr>
            <a:r>
              <a:rPr lang="en"/>
              <a:t>En la carpeta model procedemos a crear la clase Chiste de forma idéntica como hicimos en el proyecto anterior.</a:t>
            </a:r>
            <a:endParaRPr/>
          </a:p>
          <a:p>
            <a:pPr indent="0" lvl="0" marL="0" rtl="0" algn="just">
              <a:lnSpc>
                <a:spcPct val="115000"/>
              </a:lnSpc>
              <a:spcBef>
                <a:spcPts val="1200"/>
              </a:spcBef>
              <a:spcAft>
                <a:spcPts val="0"/>
              </a:spcAft>
              <a:buSzPct val="111111"/>
              <a:buNone/>
            </a:pPr>
            <a:r>
              <a:rPr lang="en"/>
              <a:t>El código de la clase Chiste es el siguiente:</a:t>
            </a:r>
            <a:endParaRPr/>
          </a:p>
          <a:p>
            <a:pPr indent="0" lvl="0" marL="0" rtl="0" algn="just">
              <a:lnSpc>
                <a:spcPct val="100000"/>
              </a:lnSpc>
              <a:spcBef>
                <a:spcPts val="1200"/>
              </a:spcBef>
              <a:spcAft>
                <a:spcPts val="0"/>
              </a:spcAft>
              <a:buSzPct val="111111"/>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11" name="Shape 111"/>
        <p:cNvGrpSpPr/>
        <p:nvPr/>
      </p:nvGrpSpPr>
      <p:grpSpPr>
        <a:xfrm>
          <a:off x="0" y="0"/>
          <a:ext cx="0" cy="0"/>
          <a:chOff x="0" y="0"/>
          <a:chExt cx="0" cy="0"/>
        </a:xfrm>
      </p:grpSpPr>
      <p:pic>
        <p:nvPicPr>
          <p:cNvPr id="112" name="Google Shape;112;p8"/>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13" name="Google Shape;113;p8"/>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pic>
        <p:nvPicPr>
          <p:cNvPr id="114" name="Google Shape;114;p8" title="CLASE 2 (1).jpg"/>
          <p:cNvPicPr preferRelativeResize="0"/>
          <p:nvPr/>
        </p:nvPicPr>
        <p:blipFill rotWithShape="1">
          <a:blip r:embed="rId5">
            <a:alphaModFix/>
          </a:blip>
          <a:srcRect b="0" l="0" r="0" t="0"/>
          <a:stretch/>
        </p:blipFill>
        <p:spPr>
          <a:xfrm>
            <a:off x="0" y="-56825"/>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18" name="Shape 118"/>
        <p:cNvGrpSpPr/>
        <p:nvPr/>
      </p:nvGrpSpPr>
      <p:grpSpPr>
        <a:xfrm>
          <a:off x="0" y="0"/>
          <a:ext cx="0" cy="0"/>
          <a:chOff x="0" y="0"/>
          <a:chExt cx="0" cy="0"/>
        </a:xfrm>
      </p:grpSpPr>
      <p:pic>
        <p:nvPicPr>
          <p:cNvPr id="119" name="Google Shape;119;p9"/>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20" name="Google Shape;120;p9"/>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21" name="Google Shape;121;p9"/>
          <p:cNvSpPr txBox="1"/>
          <p:nvPr>
            <p:ph type="title"/>
          </p:nvPr>
        </p:nvSpPr>
        <p:spPr>
          <a:xfrm>
            <a:off x="1821575" y="150775"/>
            <a:ext cx="6099000" cy="1368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990"/>
              <a:buNone/>
            </a:pPr>
            <a:r>
              <a:rPr lang="en" sz="1800"/>
              <a:t>Ahora lo nuevo con respecto al proyecto anterior consiste en crear el servicio. Procedemos a presionar con el botón derecho del mouse el paquete 'com.example.demo' y crear la carpeta 'service'</a:t>
            </a:r>
            <a:endParaRPr sz="1800"/>
          </a:p>
        </p:txBody>
      </p:sp>
      <p:pic>
        <p:nvPicPr>
          <p:cNvPr id="122" name="Google Shape;122;p9"/>
          <p:cNvPicPr preferRelativeResize="0"/>
          <p:nvPr/>
        </p:nvPicPr>
        <p:blipFill rotWithShape="1">
          <a:blip r:embed="rId5">
            <a:alphaModFix/>
          </a:blip>
          <a:srcRect b="0" l="0" r="0" t="0"/>
          <a:stretch/>
        </p:blipFill>
        <p:spPr>
          <a:xfrm>
            <a:off x="426850" y="1193375"/>
            <a:ext cx="7910500" cy="3797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26" name="Shape 126"/>
        <p:cNvGrpSpPr/>
        <p:nvPr/>
      </p:nvGrpSpPr>
      <p:grpSpPr>
        <a:xfrm>
          <a:off x="0" y="0"/>
          <a:ext cx="0" cy="0"/>
          <a:chOff x="0" y="0"/>
          <a:chExt cx="0" cy="0"/>
        </a:xfrm>
      </p:grpSpPr>
      <p:pic>
        <p:nvPicPr>
          <p:cNvPr id="127" name="Google Shape;127;p10"/>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28" name="Google Shape;128;p10"/>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29" name="Google Shape;129;p10"/>
          <p:cNvSpPr txBox="1"/>
          <p:nvPr>
            <p:ph type="title"/>
          </p:nvPr>
        </p:nvSpPr>
        <p:spPr>
          <a:xfrm>
            <a:off x="191250" y="1075800"/>
            <a:ext cx="3815700" cy="2991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Y en el diálogo procedemos a indicar el nombre 'service' (es una convención comúnmente adoptada):</a:t>
            </a:r>
            <a:endParaRPr/>
          </a:p>
        </p:txBody>
      </p:sp>
      <p:pic>
        <p:nvPicPr>
          <p:cNvPr id="130" name="Google Shape;130;p10"/>
          <p:cNvPicPr preferRelativeResize="0"/>
          <p:nvPr/>
        </p:nvPicPr>
        <p:blipFill rotWithShape="1">
          <a:blip r:embed="rId5">
            <a:alphaModFix/>
          </a:blip>
          <a:srcRect b="0" l="0" r="0" t="0"/>
          <a:stretch/>
        </p:blipFill>
        <p:spPr>
          <a:xfrm>
            <a:off x="4200025" y="503100"/>
            <a:ext cx="3815700" cy="43699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34" name="Shape 134"/>
        <p:cNvGrpSpPr/>
        <p:nvPr/>
      </p:nvGrpSpPr>
      <p:grpSpPr>
        <a:xfrm>
          <a:off x="0" y="0"/>
          <a:ext cx="0" cy="0"/>
          <a:chOff x="0" y="0"/>
          <a:chExt cx="0" cy="0"/>
        </a:xfrm>
      </p:grpSpPr>
      <p:pic>
        <p:nvPicPr>
          <p:cNvPr id="135" name="Google Shape;135;p11"/>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36" name="Google Shape;136;p1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37" name="Google Shape;137;p11"/>
          <p:cNvSpPr txBox="1"/>
          <p:nvPr>
            <p:ph type="title"/>
          </p:nvPr>
        </p:nvSpPr>
        <p:spPr>
          <a:xfrm>
            <a:off x="2254750" y="172325"/>
            <a:ext cx="4858200" cy="11238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En la carpeta service procedemos a crear la clase ChisteService:</a:t>
            </a:r>
            <a:endParaRPr/>
          </a:p>
        </p:txBody>
      </p:sp>
      <p:pic>
        <p:nvPicPr>
          <p:cNvPr id="138" name="Google Shape;138;p11"/>
          <p:cNvPicPr preferRelativeResize="0"/>
          <p:nvPr/>
        </p:nvPicPr>
        <p:blipFill rotWithShape="1">
          <a:blip r:embed="rId5">
            <a:alphaModFix/>
          </a:blip>
          <a:srcRect b="0" l="0" r="0" t="0"/>
          <a:stretch/>
        </p:blipFill>
        <p:spPr>
          <a:xfrm>
            <a:off x="1095563" y="1260150"/>
            <a:ext cx="6952876" cy="37756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42" name="Shape 142"/>
        <p:cNvGrpSpPr/>
        <p:nvPr/>
      </p:nvGrpSpPr>
      <p:grpSpPr>
        <a:xfrm>
          <a:off x="0" y="0"/>
          <a:ext cx="0" cy="0"/>
          <a:chOff x="0" y="0"/>
          <a:chExt cx="0" cy="0"/>
        </a:xfrm>
      </p:grpSpPr>
      <p:pic>
        <p:nvPicPr>
          <p:cNvPr id="143" name="Google Shape;143;p12"/>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44" name="Google Shape;144;p1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45" name="Google Shape;145;p12"/>
          <p:cNvSpPr txBox="1"/>
          <p:nvPr>
            <p:ph type="title"/>
          </p:nvPr>
        </p:nvSpPr>
        <p:spPr>
          <a:xfrm>
            <a:off x="1695300" y="639800"/>
            <a:ext cx="2876700" cy="726300"/>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0000"/>
              </a:lnSpc>
              <a:spcBef>
                <a:spcPts val="0"/>
              </a:spcBef>
              <a:spcAft>
                <a:spcPts val="0"/>
              </a:spcAft>
              <a:buSzPct val="166666"/>
              <a:buNone/>
            </a:pPr>
            <a:r>
              <a:rPr lang="en" sz="2000"/>
              <a:t>Y en el diálogo procedemos a indicar el nombre ChisteService:</a:t>
            </a:r>
            <a:endParaRPr sz="2000"/>
          </a:p>
        </p:txBody>
      </p:sp>
      <p:pic>
        <p:nvPicPr>
          <p:cNvPr id="146" name="Google Shape;146;p12"/>
          <p:cNvPicPr preferRelativeResize="0"/>
          <p:nvPr/>
        </p:nvPicPr>
        <p:blipFill rotWithShape="1">
          <a:blip r:embed="rId5">
            <a:alphaModFix/>
          </a:blip>
          <a:srcRect b="0" l="0" r="0" t="0"/>
          <a:stretch/>
        </p:blipFill>
        <p:spPr>
          <a:xfrm>
            <a:off x="4698275" y="268350"/>
            <a:ext cx="3429100" cy="4692250"/>
          </a:xfrm>
          <a:prstGeom prst="rect">
            <a:avLst/>
          </a:prstGeom>
          <a:noFill/>
          <a:ln>
            <a:noFill/>
          </a:ln>
        </p:spPr>
      </p:pic>
      <p:sp>
        <p:nvSpPr>
          <p:cNvPr id="147" name="Google Shape;147;p12"/>
          <p:cNvSpPr txBox="1"/>
          <p:nvPr/>
        </p:nvSpPr>
        <p:spPr>
          <a:xfrm>
            <a:off x="858450" y="2937700"/>
            <a:ext cx="30000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200"/>
              <a:buFont typeface="Arial"/>
              <a:buNone/>
            </a:pPr>
            <a:r>
              <a:rPr b="0" i="0" lang="en" sz="2200" u="none" cap="none" strike="noStrike">
                <a:solidFill>
                  <a:schemeClr val="dk1"/>
                </a:solidFill>
                <a:latin typeface="Oswald"/>
                <a:ea typeface="Oswald"/>
                <a:cs typeface="Oswald"/>
                <a:sym typeface="Oswald"/>
              </a:rPr>
              <a:t>El código de la clase ChisteService es el siguiente</a:t>
            </a:r>
            <a:endParaRPr b="0" i="0" sz="1400" u="none" cap="none" strike="noStrike">
              <a:solidFill>
                <a:srgbClr val="000000"/>
              </a:solidFill>
              <a:latin typeface="Arial"/>
              <a:ea typeface="Arial"/>
              <a:cs typeface="Arial"/>
              <a:sym typeface="Arial"/>
            </a:endParaRPr>
          </a:p>
        </p:txBody>
      </p:sp>
      <p:sp>
        <p:nvSpPr>
          <p:cNvPr id="148" name="Google Shape;148;p12"/>
          <p:cNvSpPr/>
          <p:nvPr/>
        </p:nvSpPr>
        <p:spPr>
          <a:xfrm>
            <a:off x="2380650" y="4009075"/>
            <a:ext cx="498000" cy="951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52" name="Shape 152"/>
        <p:cNvGrpSpPr/>
        <p:nvPr/>
      </p:nvGrpSpPr>
      <p:grpSpPr>
        <a:xfrm>
          <a:off x="0" y="0"/>
          <a:ext cx="0" cy="0"/>
          <a:chOff x="0" y="0"/>
          <a:chExt cx="0" cy="0"/>
        </a:xfrm>
      </p:grpSpPr>
      <p:sp>
        <p:nvSpPr>
          <p:cNvPr id="153" name="Google Shape;153;p13"/>
          <p:cNvSpPr txBox="1"/>
          <p:nvPr>
            <p:ph type="title"/>
          </p:nvPr>
        </p:nvSpPr>
        <p:spPr>
          <a:xfrm>
            <a:off x="2193750" y="304475"/>
            <a:ext cx="4858200" cy="8595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t/>
            </a:r>
            <a:endParaRPr sz="2200"/>
          </a:p>
        </p:txBody>
      </p:sp>
      <p:pic>
        <p:nvPicPr>
          <p:cNvPr id="154" name="Google Shape;154;p13" title="CLASE 2 (2).jpg"/>
          <p:cNvPicPr preferRelativeResize="0"/>
          <p:nvPr/>
        </p:nvPicPr>
        <p:blipFill rotWithShape="1">
          <a:blip r:embed="rId3">
            <a:alphaModFix/>
          </a:blip>
          <a:srcRect b="0" l="-110" r="109" t="0"/>
          <a:stretch/>
        </p:blipFill>
        <p:spPr>
          <a:xfrm>
            <a:off x="76200" y="42854"/>
            <a:ext cx="8991600" cy="505777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58" name="Shape 158"/>
        <p:cNvGrpSpPr/>
        <p:nvPr/>
      </p:nvGrpSpPr>
      <p:grpSpPr>
        <a:xfrm>
          <a:off x="0" y="0"/>
          <a:ext cx="0" cy="0"/>
          <a:chOff x="0" y="0"/>
          <a:chExt cx="0" cy="0"/>
        </a:xfrm>
      </p:grpSpPr>
      <p:pic>
        <p:nvPicPr>
          <p:cNvPr id="159" name="Google Shape;159;p14"/>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60" name="Google Shape;160;p14"/>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61" name="Google Shape;161;p14"/>
          <p:cNvSpPr txBox="1"/>
          <p:nvPr/>
        </p:nvSpPr>
        <p:spPr>
          <a:xfrm>
            <a:off x="510000" y="1260150"/>
            <a:ext cx="8124000" cy="3616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700"/>
              <a:buFont typeface="Arial"/>
              <a:buNone/>
            </a:pPr>
            <a:r>
              <a:rPr b="0" i="0" lang="en" sz="1700" u="none" cap="none" strike="noStrike">
                <a:solidFill>
                  <a:schemeClr val="dk1"/>
                </a:solidFill>
                <a:latin typeface="Arial"/>
                <a:ea typeface="Arial"/>
                <a:cs typeface="Arial"/>
                <a:sym typeface="Arial"/>
              </a:rPr>
              <a:t>La anotación @Service en Spring es una de las varias anotaciones que se utilizan para definir los componentes de una aplicación.</a:t>
            </a:r>
            <a:endParaRPr b="0" i="0" sz="17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700"/>
              <a:buFont typeface="Arial"/>
              <a:buNone/>
            </a:pPr>
            <a:r>
              <a:rPr b="0" i="0" lang="en" sz="1700" u="none" cap="none" strike="noStrike">
                <a:solidFill>
                  <a:schemeClr val="dk1"/>
                </a:solidFill>
                <a:latin typeface="Arial"/>
                <a:ea typeface="Arial"/>
                <a:cs typeface="Arial"/>
                <a:sym typeface="Arial"/>
              </a:rPr>
              <a:t>Un componente de servicio en Spring generalmente se utiliza para alojar la lógica de negocio de la aplicación.</a:t>
            </a:r>
            <a:endParaRPr b="0" i="0" sz="17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1700"/>
              <a:buFont typeface="Arial"/>
              <a:buNone/>
            </a:pPr>
            <a:r>
              <a:rPr b="0" i="0" lang="en" sz="1700" u="none" cap="none" strike="noStrike">
                <a:solidFill>
                  <a:schemeClr val="dk1"/>
                </a:solidFill>
                <a:latin typeface="Arial"/>
                <a:ea typeface="Arial"/>
                <a:cs typeface="Arial"/>
                <a:sym typeface="Arial"/>
              </a:rPr>
              <a:t>Proporcionan una capa de abstracción entre los controladores (o componentes que interactúan directamente con las solicitudes HTTP) y la capa de acceso a datos (más adelante veremos como acceder a una base de datos donde rescatar los chistes)</a:t>
            </a:r>
            <a:endParaRPr b="0" i="0" sz="17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700"/>
              <a:buFont typeface="Arial"/>
              <a:buNone/>
            </a:pPr>
            <a:r>
              <a:rPr b="0" i="0" lang="en" sz="1700" u="none" cap="none" strike="noStrike">
                <a:solidFill>
                  <a:schemeClr val="dk1"/>
                </a:solidFill>
                <a:latin typeface="Arial"/>
                <a:ea typeface="Arial"/>
                <a:cs typeface="Arial"/>
                <a:sym typeface="Arial"/>
              </a:rPr>
              <a:t>Los servicios son inyectados en otras clases de la aplicación, como controladores, otros servicios, o componentes de configuración.</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65" name="Shape 165"/>
        <p:cNvGrpSpPr/>
        <p:nvPr/>
      </p:nvGrpSpPr>
      <p:grpSpPr>
        <a:xfrm>
          <a:off x="0" y="0"/>
          <a:ext cx="0" cy="0"/>
          <a:chOff x="0" y="0"/>
          <a:chExt cx="0" cy="0"/>
        </a:xfrm>
      </p:grpSpPr>
      <p:pic>
        <p:nvPicPr>
          <p:cNvPr id="166" name="Google Shape;166;p15"/>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67" name="Google Shape;167;p15"/>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68" name="Google Shape;168;p15"/>
          <p:cNvSpPr txBox="1"/>
          <p:nvPr/>
        </p:nvSpPr>
        <p:spPr>
          <a:xfrm>
            <a:off x="550675" y="1453275"/>
            <a:ext cx="8124000" cy="3010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800"/>
              <a:buFont typeface="Arial"/>
              <a:buNone/>
            </a:pPr>
            <a:r>
              <a:rPr b="0" i="0" lang="en" sz="1800" u="none" cap="none" strike="noStrike">
                <a:solidFill>
                  <a:schemeClr val="dk1"/>
                </a:solidFill>
                <a:latin typeface="Arial"/>
                <a:ea typeface="Arial"/>
                <a:cs typeface="Arial"/>
                <a:sym typeface="Arial"/>
              </a:rPr>
              <a:t>La inyección de dependencias (Dependency Injection, DI) es un patrón de diseño fundamental en Spring Boot. La inyección de dependencias es un mecanismo que se utiliza para gestionar las dependencias entre diferentes componentes de una aplicación. En el contexto de Spring Boot, la inyección de dependencias se refiere a cómo Spring maneja las dependencias de los componentes y proporciona instancias de estas dependencias a los componentes que las necesitan (en nuestro ejemplo la creación de un objeto de la clase ChisteService la realiza autamáticamente Sprint Boot, en ningún lado hacemos un new de la clase ChisteService)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72" name="Shape 172"/>
        <p:cNvGrpSpPr/>
        <p:nvPr/>
      </p:nvGrpSpPr>
      <p:grpSpPr>
        <a:xfrm>
          <a:off x="0" y="0"/>
          <a:ext cx="0" cy="0"/>
          <a:chOff x="0" y="0"/>
          <a:chExt cx="0" cy="0"/>
        </a:xfrm>
      </p:grpSpPr>
      <p:pic>
        <p:nvPicPr>
          <p:cNvPr id="173" name="Google Shape;173;p16"/>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74" name="Google Shape;174;p16"/>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75" name="Google Shape;175;p16"/>
          <p:cNvSpPr txBox="1"/>
          <p:nvPr/>
        </p:nvSpPr>
        <p:spPr>
          <a:xfrm>
            <a:off x="550675" y="1199150"/>
            <a:ext cx="8124000" cy="402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Ahora nuevamente en el paquete 'com.example.demo' procedemos a crear la carpeta 'controller' como en el proyecto anterior</a:t>
            </a:r>
            <a:endParaRPr b="0" i="0" sz="2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Y en el diálogo procedemos a indicar el nombre 'controller'</a:t>
            </a:r>
            <a:endParaRPr b="0" i="0" sz="2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En la carpeta controller procedemos a crear la clase ChisteController.</a:t>
            </a:r>
            <a:endParaRPr b="0" i="0" sz="2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100"/>
              <a:buFont typeface="Arial"/>
              <a:buNone/>
            </a:pPr>
            <a:r>
              <a:rPr b="0" i="0" lang="en" sz="2100" u="none" cap="none" strike="noStrike">
                <a:solidFill>
                  <a:schemeClr val="dk1"/>
                </a:solidFill>
                <a:latin typeface="Arial"/>
                <a:ea typeface="Arial"/>
                <a:cs typeface="Arial"/>
                <a:sym typeface="Arial"/>
              </a:rPr>
              <a:t>El código de la clase ChisteController es diferente al proyecto que no usaba servicios:</a:t>
            </a:r>
            <a:endParaRPr b="0" i="0" sz="21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79" name="Shape 179"/>
        <p:cNvGrpSpPr/>
        <p:nvPr/>
      </p:nvGrpSpPr>
      <p:grpSpPr>
        <a:xfrm>
          <a:off x="0" y="0"/>
          <a:ext cx="0" cy="0"/>
          <a:chOff x="0" y="0"/>
          <a:chExt cx="0" cy="0"/>
        </a:xfrm>
      </p:grpSpPr>
      <p:sp>
        <p:nvSpPr>
          <p:cNvPr id="180" name="Google Shape;180;p17"/>
          <p:cNvSpPr txBox="1"/>
          <p:nvPr/>
        </p:nvSpPr>
        <p:spPr>
          <a:xfrm>
            <a:off x="550675" y="1453275"/>
            <a:ext cx="81240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pic>
        <p:nvPicPr>
          <p:cNvPr id="181" name="Google Shape;181;p17" title="CLASE 2 (3).jpg"/>
          <p:cNvPicPr preferRelativeResize="0"/>
          <p:nvPr/>
        </p:nvPicPr>
        <p:blipFill rotWithShape="1">
          <a:blip r:embed="rId3">
            <a:alphaModFix/>
          </a:blip>
          <a:srcRect b="0" l="0" r="0" t="0"/>
          <a:stretch/>
        </p:blipFill>
        <p:spPr>
          <a:xfrm>
            <a:off x="0" y="-66975"/>
            <a:ext cx="9144000" cy="5210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85" name="Shape 185"/>
        <p:cNvGrpSpPr/>
        <p:nvPr/>
      </p:nvGrpSpPr>
      <p:grpSpPr>
        <a:xfrm>
          <a:off x="0" y="0"/>
          <a:ext cx="0" cy="0"/>
          <a:chOff x="0" y="0"/>
          <a:chExt cx="0" cy="0"/>
        </a:xfrm>
      </p:grpSpPr>
      <p:pic>
        <p:nvPicPr>
          <p:cNvPr id="186" name="Google Shape;186;p18"/>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87" name="Google Shape;187;p18"/>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88" name="Google Shape;188;p18"/>
          <p:cNvSpPr txBox="1"/>
          <p:nvPr>
            <p:ph type="title"/>
          </p:nvPr>
        </p:nvSpPr>
        <p:spPr>
          <a:xfrm>
            <a:off x="414900" y="1319775"/>
            <a:ext cx="8085000" cy="13578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3000"/>
              <a:buNone/>
            </a:pPr>
            <a:r>
              <a:rPr lang="en"/>
              <a:t>La anotación @Controller marca esta clase como un controlador de Spring. </a:t>
            </a:r>
            <a:endParaRPr/>
          </a:p>
        </p:txBody>
      </p:sp>
      <p:pic>
        <p:nvPicPr>
          <p:cNvPr id="189" name="Google Shape;189;p18"/>
          <p:cNvPicPr preferRelativeResize="0"/>
          <p:nvPr/>
        </p:nvPicPr>
        <p:blipFill rotWithShape="1">
          <a:blip r:embed="rId5">
            <a:alphaModFix/>
          </a:blip>
          <a:srcRect b="0" l="0" r="0" t="0"/>
          <a:stretch/>
        </p:blipFill>
        <p:spPr>
          <a:xfrm>
            <a:off x="152400" y="2543850"/>
            <a:ext cx="8839199" cy="1455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193" name="Shape 193"/>
        <p:cNvGrpSpPr/>
        <p:nvPr/>
      </p:nvGrpSpPr>
      <p:grpSpPr>
        <a:xfrm>
          <a:off x="0" y="0"/>
          <a:ext cx="0" cy="0"/>
          <a:chOff x="0" y="0"/>
          <a:chExt cx="0" cy="0"/>
        </a:xfrm>
      </p:grpSpPr>
      <p:pic>
        <p:nvPicPr>
          <p:cNvPr id="194" name="Google Shape;194;p19"/>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195" name="Google Shape;195;p19"/>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196" name="Google Shape;196;p19"/>
          <p:cNvSpPr txBox="1"/>
          <p:nvPr/>
        </p:nvSpPr>
        <p:spPr>
          <a:xfrm>
            <a:off x="355800" y="1179450"/>
            <a:ext cx="8601600" cy="3417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En esta parte, se define un campo chisteService que representa la dependencia del servicio ChisteService. Este campo se inicializa a través de un constructor que toma una instancia de ChisteService. Esto se llama inyección de dependencias y Spring se encargará de proporcionar una instancia de ChisteService automáticamente al crear una instancia de ChisteController (tener en cuenta que también Spring Boot crea una instancia de ChisteController en forma automática)</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600"/>
              <a:buFont typeface="Arial"/>
              <a:buNone/>
            </a:pPr>
            <a:r>
              <a:rPr b="0" i="0" lang="en" sz="1600" u="none" cap="none" strike="noStrike">
                <a:solidFill>
                  <a:schemeClr val="dk1"/>
                </a:solidFill>
                <a:latin typeface="Arial"/>
                <a:ea typeface="Arial"/>
                <a:cs typeface="Arial"/>
                <a:sym typeface="Arial"/>
              </a:rPr>
              <a:t>El método inicio maneja las solicitudes GET a la raíz de la aplicación (/). Toma un parámetro Model, que es utilizado para pasar datos a la vista. En este método, se obtiene un chiste aleatorio utilizando el servicio ChisteService, se agrega al modelo con el nombre "chiste" y se devuelve el nombre de la vista "index". Esto indica que Spring debe buscar una plantilla de Thymeleaf llamada index.html para renderizar la respuesta al cliente.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00" name="Shape 200"/>
        <p:cNvGrpSpPr/>
        <p:nvPr/>
      </p:nvGrpSpPr>
      <p:grpSpPr>
        <a:xfrm>
          <a:off x="0" y="0"/>
          <a:ext cx="0" cy="0"/>
          <a:chOff x="0" y="0"/>
          <a:chExt cx="0" cy="0"/>
        </a:xfrm>
      </p:grpSpPr>
      <p:pic>
        <p:nvPicPr>
          <p:cNvPr id="201" name="Google Shape;201;p20"/>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02" name="Google Shape;202;p20"/>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03" name="Google Shape;203;p20"/>
          <p:cNvSpPr txBox="1"/>
          <p:nvPr>
            <p:ph type="title"/>
          </p:nvPr>
        </p:nvSpPr>
        <p:spPr>
          <a:xfrm>
            <a:off x="1821575" y="242275"/>
            <a:ext cx="6343200" cy="130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90"/>
              <a:buNone/>
            </a:pPr>
            <a:r>
              <a:rPr lang="en" sz="1800"/>
              <a:t>Ahora procedamos a crear la vista en la carpeta 'template' el archivo index.html, sin hacer cambios con respecto al proyecto del concepto anterior:</a:t>
            </a:r>
            <a:endParaRPr sz="1800"/>
          </a:p>
          <a:p>
            <a:pPr indent="0" lvl="0" marL="0" rtl="0" algn="l">
              <a:lnSpc>
                <a:spcPct val="115000"/>
              </a:lnSpc>
              <a:spcBef>
                <a:spcPts val="1200"/>
              </a:spcBef>
              <a:spcAft>
                <a:spcPts val="0"/>
              </a:spcAft>
              <a:buSzPts val="990"/>
              <a:buNone/>
            </a:pPr>
            <a:r>
              <a:rPr lang="en" sz="1800"/>
              <a:t>El código fuente de la página index.html es:</a:t>
            </a:r>
            <a:endParaRPr sz="1800"/>
          </a:p>
          <a:p>
            <a:pPr indent="0" lvl="0" marL="0" rtl="0" algn="just">
              <a:lnSpc>
                <a:spcPct val="100000"/>
              </a:lnSpc>
              <a:spcBef>
                <a:spcPts val="1200"/>
              </a:spcBef>
              <a:spcAft>
                <a:spcPts val="0"/>
              </a:spcAft>
              <a:buSzPts val="990"/>
              <a:buNone/>
            </a:pPr>
            <a:r>
              <a:t/>
            </a:r>
            <a:endParaRPr sz="2700"/>
          </a:p>
        </p:txBody>
      </p:sp>
      <p:pic>
        <p:nvPicPr>
          <p:cNvPr id="204" name="Google Shape;204;p20"/>
          <p:cNvPicPr preferRelativeResize="0"/>
          <p:nvPr/>
        </p:nvPicPr>
        <p:blipFill rotWithShape="1">
          <a:blip r:embed="rId5">
            <a:alphaModFix/>
          </a:blip>
          <a:srcRect b="0" l="0" r="0" t="0"/>
          <a:stretch/>
        </p:blipFill>
        <p:spPr>
          <a:xfrm>
            <a:off x="282588" y="1709525"/>
            <a:ext cx="8578818" cy="32917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08" name="Shape 208"/>
        <p:cNvGrpSpPr/>
        <p:nvPr/>
      </p:nvGrpSpPr>
      <p:grpSpPr>
        <a:xfrm>
          <a:off x="0" y="0"/>
          <a:ext cx="0" cy="0"/>
          <a:chOff x="0" y="0"/>
          <a:chExt cx="0" cy="0"/>
        </a:xfrm>
      </p:grpSpPr>
      <p:pic>
        <p:nvPicPr>
          <p:cNvPr id="209" name="Google Shape;209;p21"/>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10" name="Google Shape;210;p21"/>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11" name="Google Shape;211;p21"/>
          <p:cNvSpPr txBox="1"/>
          <p:nvPr>
            <p:ph type="title"/>
          </p:nvPr>
        </p:nvSpPr>
        <p:spPr>
          <a:xfrm>
            <a:off x="1902900" y="211750"/>
            <a:ext cx="6109200" cy="11238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990"/>
              <a:buNone/>
            </a:pPr>
            <a:r>
              <a:rPr lang="en" sz="1700"/>
              <a:t>Ahora si ejecutamos la aplicación (recordar siempre de guardar todos los archivos modificados y volver a reiniciar el servidor) vemos que nos muestra chistes distintos cada vez que actualizamos la página web</a:t>
            </a:r>
            <a:endParaRPr sz="1700"/>
          </a:p>
        </p:txBody>
      </p:sp>
      <p:pic>
        <p:nvPicPr>
          <p:cNvPr id="212" name="Google Shape;212;p21"/>
          <p:cNvPicPr preferRelativeResize="0"/>
          <p:nvPr/>
        </p:nvPicPr>
        <p:blipFill rotWithShape="1">
          <a:blip r:embed="rId5">
            <a:alphaModFix/>
          </a:blip>
          <a:srcRect b="0" l="0" r="0" t="0"/>
          <a:stretch/>
        </p:blipFill>
        <p:spPr>
          <a:xfrm>
            <a:off x="1043775" y="1426950"/>
            <a:ext cx="6815837" cy="3503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216" name="Shape 216"/>
        <p:cNvGrpSpPr/>
        <p:nvPr/>
      </p:nvGrpSpPr>
      <p:grpSpPr>
        <a:xfrm>
          <a:off x="0" y="0"/>
          <a:ext cx="0" cy="0"/>
          <a:chOff x="0" y="0"/>
          <a:chExt cx="0" cy="0"/>
        </a:xfrm>
      </p:grpSpPr>
      <p:pic>
        <p:nvPicPr>
          <p:cNvPr id="217" name="Google Shape;217;p22"/>
          <p:cNvPicPr preferRelativeResize="0"/>
          <p:nvPr/>
        </p:nvPicPr>
        <p:blipFill rotWithShape="1">
          <a:blip r:embed="rId3">
            <a:alphaModFix/>
          </a:blip>
          <a:srcRect b="0" l="0" r="0" t="0"/>
          <a:stretch/>
        </p:blipFill>
        <p:spPr>
          <a:xfrm>
            <a:off x="150500" y="337925"/>
            <a:ext cx="1671075" cy="792600"/>
          </a:xfrm>
          <a:prstGeom prst="rect">
            <a:avLst/>
          </a:prstGeom>
          <a:noFill/>
          <a:ln>
            <a:noFill/>
          </a:ln>
        </p:spPr>
      </p:pic>
      <p:pic>
        <p:nvPicPr>
          <p:cNvPr id="218" name="Google Shape;218;p22"/>
          <p:cNvPicPr preferRelativeResize="0"/>
          <p:nvPr/>
        </p:nvPicPr>
        <p:blipFill rotWithShape="1">
          <a:blip r:embed="rId4">
            <a:alphaModFix/>
          </a:blip>
          <a:srcRect b="0" l="0" r="0" t="0"/>
          <a:stretch/>
        </p:blipFill>
        <p:spPr>
          <a:xfrm>
            <a:off x="7859601" y="50826"/>
            <a:ext cx="1209350" cy="1209325"/>
          </a:xfrm>
          <a:prstGeom prst="rect">
            <a:avLst/>
          </a:prstGeom>
          <a:noFill/>
          <a:ln>
            <a:noFill/>
          </a:ln>
        </p:spPr>
      </p:pic>
      <p:sp>
        <p:nvSpPr>
          <p:cNvPr id="219" name="Google Shape;219;p22"/>
          <p:cNvSpPr txBox="1"/>
          <p:nvPr>
            <p:ph type="title"/>
          </p:nvPr>
        </p:nvSpPr>
        <p:spPr>
          <a:xfrm>
            <a:off x="2142900" y="630850"/>
            <a:ext cx="4858200" cy="10503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Ahora llevar teoría a la práctica, crea una página con un servicio paso a paso:</a:t>
            </a:r>
            <a:endParaRPr/>
          </a:p>
        </p:txBody>
      </p:sp>
      <p:pic>
        <p:nvPicPr>
          <p:cNvPr id="220" name="Google Shape;220;p22"/>
          <p:cNvPicPr preferRelativeResize="0"/>
          <p:nvPr/>
        </p:nvPicPr>
        <p:blipFill rotWithShape="1">
          <a:blip r:embed="rId5">
            <a:alphaModFix/>
          </a:blip>
          <a:srcRect b="0" l="0" r="0" t="0"/>
          <a:stretch/>
        </p:blipFill>
        <p:spPr>
          <a:xfrm>
            <a:off x="3183650" y="1768700"/>
            <a:ext cx="2368475" cy="2368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